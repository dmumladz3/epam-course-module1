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sldIdLst>
    <p:sldId id="257" r:id="rId2"/>
    <p:sldId id="259" r:id="rId3"/>
    <p:sldId id="260" r:id="rId4"/>
    <p:sldId id="258"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2FF40D-111E-4DAA-B985-5050EEE0B520}" type="doc">
      <dgm:prSet loTypeId="urn:microsoft.com/office/officeart/2005/8/layout/vProcess5" loCatId="process" qsTypeId="urn:microsoft.com/office/officeart/2005/8/quickstyle/simple3" qsCatId="simple" csTypeId="urn:microsoft.com/office/officeart/2005/8/colors/colorful1" csCatId="colorful"/>
      <dgm:spPr/>
      <dgm:t>
        <a:bodyPr/>
        <a:lstStyle/>
        <a:p>
          <a:endParaRPr lang="en-US"/>
        </a:p>
      </dgm:t>
    </dgm:pt>
    <dgm:pt modelId="{68512B03-83FC-45F0-92F5-8512C6191B87}">
      <dgm:prSet/>
      <dgm:spPr/>
      <dgm:t>
        <a:bodyPr/>
        <a:lstStyle/>
        <a:p>
          <a:r>
            <a:rPr lang="en-IN"/>
            <a:t>Decorators have the same supertype as the object they decorate.</a:t>
          </a:r>
          <a:endParaRPr lang="en-US"/>
        </a:p>
      </dgm:t>
    </dgm:pt>
    <dgm:pt modelId="{07F080CF-11B6-4E01-B5F5-63F1197977D3}" type="parTrans" cxnId="{D42FDE75-A5B0-4125-B070-C1843FA20186}">
      <dgm:prSet/>
      <dgm:spPr/>
      <dgm:t>
        <a:bodyPr/>
        <a:lstStyle/>
        <a:p>
          <a:endParaRPr lang="en-US"/>
        </a:p>
      </dgm:t>
    </dgm:pt>
    <dgm:pt modelId="{1C05356E-FA87-4235-AF45-7CFA35D48B9B}" type="sibTrans" cxnId="{D42FDE75-A5B0-4125-B070-C1843FA20186}">
      <dgm:prSet/>
      <dgm:spPr/>
      <dgm:t>
        <a:bodyPr/>
        <a:lstStyle/>
        <a:p>
          <a:endParaRPr lang="en-US"/>
        </a:p>
      </dgm:t>
    </dgm:pt>
    <dgm:pt modelId="{4E96584C-A047-44F2-81D7-F9462F073B61}">
      <dgm:prSet/>
      <dgm:spPr/>
      <dgm:t>
        <a:bodyPr/>
        <a:lstStyle/>
        <a:p>
          <a:r>
            <a:rPr lang="en-IN"/>
            <a:t>You can use one or more decorators to wrap the object.</a:t>
          </a:r>
          <a:endParaRPr lang="en-US"/>
        </a:p>
      </dgm:t>
    </dgm:pt>
    <dgm:pt modelId="{0E3688B3-1679-41E9-82A7-21DFBC0B60BD}" type="parTrans" cxnId="{EE1E57DE-456D-432D-9E4A-B3E6BF4E7CA0}">
      <dgm:prSet/>
      <dgm:spPr/>
      <dgm:t>
        <a:bodyPr/>
        <a:lstStyle/>
        <a:p>
          <a:endParaRPr lang="en-US"/>
        </a:p>
      </dgm:t>
    </dgm:pt>
    <dgm:pt modelId="{E74A9DFF-74F5-428E-AFB5-569519E2ABF0}" type="sibTrans" cxnId="{EE1E57DE-456D-432D-9E4A-B3E6BF4E7CA0}">
      <dgm:prSet/>
      <dgm:spPr/>
      <dgm:t>
        <a:bodyPr/>
        <a:lstStyle/>
        <a:p>
          <a:endParaRPr lang="en-US"/>
        </a:p>
      </dgm:t>
    </dgm:pt>
    <dgm:pt modelId="{29FDD4E3-8DF6-48F4-B936-B3CA72E5CEB9}">
      <dgm:prSet/>
      <dgm:spPr/>
      <dgm:t>
        <a:bodyPr/>
        <a:lstStyle/>
        <a:p>
          <a:r>
            <a:rPr lang="en-IN"/>
            <a:t>Given that the decorator has same supertype as the object it decorates, we can pass around a decorated object in place of the original object.</a:t>
          </a:r>
          <a:endParaRPr lang="en-US"/>
        </a:p>
      </dgm:t>
    </dgm:pt>
    <dgm:pt modelId="{45F7E025-F6B1-4C3A-8C4F-35B4B934A753}" type="parTrans" cxnId="{E71B56EB-2E40-46AE-9D3F-88EE7E49E7D8}">
      <dgm:prSet/>
      <dgm:spPr/>
      <dgm:t>
        <a:bodyPr/>
        <a:lstStyle/>
        <a:p>
          <a:endParaRPr lang="en-US"/>
        </a:p>
      </dgm:t>
    </dgm:pt>
    <dgm:pt modelId="{56F37E85-7E11-4476-8735-CA1ED48D415C}" type="sibTrans" cxnId="{E71B56EB-2E40-46AE-9D3F-88EE7E49E7D8}">
      <dgm:prSet/>
      <dgm:spPr/>
      <dgm:t>
        <a:bodyPr/>
        <a:lstStyle/>
        <a:p>
          <a:endParaRPr lang="en-US"/>
        </a:p>
      </dgm:t>
    </dgm:pt>
    <dgm:pt modelId="{289A54A0-8A91-428F-AC25-7A493F5A8B8B}">
      <dgm:prSet/>
      <dgm:spPr/>
      <dgm:t>
        <a:bodyPr/>
        <a:lstStyle/>
        <a:p>
          <a:r>
            <a:rPr lang="en-IN"/>
            <a:t>The decorator adds its own behaviour either before and/or after delegating to the object it decorates to do the rest of the job.</a:t>
          </a:r>
          <a:endParaRPr lang="en-US"/>
        </a:p>
      </dgm:t>
    </dgm:pt>
    <dgm:pt modelId="{56D1C595-DA35-49BC-8003-A7B99CB3C300}" type="parTrans" cxnId="{6C70631B-5013-48A1-8A79-F32C9DBFB3E7}">
      <dgm:prSet/>
      <dgm:spPr/>
      <dgm:t>
        <a:bodyPr/>
        <a:lstStyle/>
        <a:p>
          <a:endParaRPr lang="en-US"/>
        </a:p>
      </dgm:t>
    </dgm:pt>
    <dgm:pt modelId="{F6355FDC-50BA-467F-96AC-CDB53BB91042}" type="sibTrans" cxnId="{6C70631B-5013-48A1-8A79-F32C9DBFB3E7}">
      <dgm:prSet/>
      <dgm:spPr/>
      <dgm:t>
        <a:bodyPr/>
        <a:lstStyle/>
        <a:p>
          <a:endParaRPr lang="en-US"/>
        </a:p>
      </dgm:t>
    </dgm:pt>
    <dgm:pt modelId="{774C3A5F-1534-40C8-ACE9-800218CC280D}">
      <dgm:prSet/>
      <dgm:spPr/>
      <dgm:t>
        <a:bodyPr/>
        <a:lstStyle/>
        <a:p>
          <a:r>
            <a:rPr lang="en-IN"/>
            <a:t>Objects can be decorated at any time, so we can decorate objects dynamically at run time with as many decorators we like.</a:t>
          </a:r>
          <a:endParaRPr lang="en-US"/>
        </a:p>
      </dgm:t>
    </dgm:pt>
    <dgm:pt modelId="{C916FAB1-5D91-4DD4-A900-15EFA03BD836}" type="parTrans" cxnId="{93E64636-41B4-456C-BC3D-CB7CAB4401A5}">
      <dgm:prSet/>
      <dgm:spPr/>
      <dgm:t>
        <a:bodyPr/>
        <a:lstStyle/>
        <a:p>
          <a:endParaRPr lang="en-US"/>
        </a:p>
      </dgm:t>
    </dgm:pt>
    <dgm:pt modelId="{BED5B888-2002-4E35-9325-A66558D116D4}" type="sibTrans" cxnId="{93E64636-41B4-456C-BC3D-CB7CAB4401A5}">
      <dgm:prSet/>
      <dgm:spPr/>
      <dgm:t>
        <a:bodyPr/>
        <a:lstStyle/>
        <a:p>
          <a:endParaRPr lang="en-US"/>
        </a:p>
      </dgm:t>
    </dgm:pt>
    <dgm:pt modelId="{61A1B6CB-4DA2-4258-9A3D-26766567E899}" type="pres">
      <dgm:prSet presAssocID="{382FF40D-111E-4DAA-B985-5050EEE0B520}" presName="outerComposite" presStyleCnt="0">
        <dgm:presLayoutVars>
          <dgm:chMax val="5"/>
          <dgm:dir/>
          <dgm:resizeHandles val="exact"/>
        </dgm:presLayoutVars>
      </dgm:prSet>
      <dgm:spPr/>
    </dgm:pt>
    <dgm:pt modelId="{57DD37ED-453A-484F-BD4A-BC9E26E1AFE5}" type="pres">
      <dgm:prSet presAssocID="{382FF40D-111E-4DAA-B985-5050EEE0B520}" presName="dummyMaxCanvas" presStyleCnt="0">
        <dgm:presLayoutVars/>
      </dgm:prSet>
      <dgm:spPr/>
    </dgm:pt>
    <dgm:pt modelId="{9F40FA40-B2DC-4308-88BC-29EC5E9BFB60}" type="pres">
      <dgm:prSet presAssocID="{382FF40D-111E-4DAA-B985-5050EEE0B520}" presName="FiveNodes_1" presStyleLbl="node1" presStyleIdx="0" presStyleCnt="5">
        <dgm:presLayoutVars>
          <dgm:bulletEnabled val="1"/>
        </dgm:presLayoutVars>
      </dgm:prSet>
      <dgm:spPr/>
    </dgm:pt>
    <dgm:pt modelId="{D37662E3-7289-4BF8-AD95-A1F3B9E8C736}" type="pres">
      <dgm:prSet presAssocID="{382FF40D-111E-4DAA-B985-5050EEE0B520}" presName="FiveNodes_2" presStyleLbl="node1" presStyleIdx="1" presStyleCnt="5">
        <dgm:presLayoutVars>
          <dgm:bulletEnabled val="1"/>
        </dgm:presLayoutVars>
      </dgm:prSet>
      <dgm:spPr/>
    </dgm:pt>
    <dgm:pt modelId="{7B9B11F7-E4FF-46F7-9BC7-035561FE85D5}" type="pres">
      <dgm:prSet presAssocID="{382FF40D-111E-4DAA-B985-5050EEE0B520}" presName="FiveNodes_3" presStyleLbl="node1" presStyleIdx="2" presStyleCnt="5">
        <dgm:presLayoutVars>
          <dgm:bulletEnabled val="1"/>
        </dgm:presLayoutVars>
      </dgm:prSet>
      <dgm:spPr/>
    </dgm:pt>
    <dgm:pt modelId="{598E39D9-9669-4CE5-AD60-1ECC865D7B98}" type="pres">
      <dgm:prSet presAssocID="{382FF40D-111E-4DAA-B985-5050EEE0B520}" presName="FiveNodes_4" presStyleLbl="node1" presStyleIdx="3" presStyleCnt="5">
        <dgm:presLayoutVars>
          <dgm:bulletEnabled val="1"/>
        </dgm:presLayoutVars>
      </dgm:prSet>
      <dgm:spPr/>
    </dgm:pt>
    <dgm:pt modelId="{DE625870-EE8F-4ACD-8B85-A10F61C0798A}" type="pres">
      <dgm:prSet presAssocID="{382FF40D-111E-4DAA-B985-5050EEE0B520}" presName="FiveNodes_5" presStyleLbl="node1" presStyleIdx="4" presStyleCnt="5">
        <dgm:presLayoutVars>
          <dgm:bulletEnabled val="1"/>
        </dgm:presLayoutVars>
      </dgm:prSet>
      <dgm:spPr/>
    </dgm:pt>
    <dgm:pt modelId="{3FCC1431-C88F-4AE1-A9C6-46A44319DD65}" type="pres">
      <dgm:prSet presAssocID="{382FF40D-111E-4DAA-B985-5050EEE0B520}" presName="FiveConn_1-2" presStyleLbl="fgAccFollowNode1" presStyleIdx="0" presStyleCnt="4">
        <dgm:presLayoutVars>
          <dgm:bulletEnabled val="1"/>
        </dgm:presLayoutVars>
      </dgm:prSet>
      <dgm:spPr/>
    </dgm:pt>
    <dgm:pt modelId="{19A206F8-98DB-4BDA-AAE4-31D52EB2CD68}" type="pres">
      <dgm:prSet presAssocID="{382FF40D-111E-4DAA-B985-5050EEE0B520}" presName="FiveConn_2-3" presStyleLbl="fgAccFollowNode1" presStyleIdx="1" presStyleCnt="4">
        <dgm:presLayoutVars>
          <dgm:bulletEnabled val="1"/>
        </dgm:presLayoutVars>
      </dgm:prSet>
      <dgm:spPr/>
    </dgm:pt>
    <dgm:pt modelId="{22982028-703A-4E99-B146-29E009651CB4}" type="pres">
      <dgm:prSet presAssocID="{382FF40D-111E-4DAA-B985-5050EEE0B520}" presName="FiveConn_3-4" presStyleLbl="fgAccFollowNode1" presStyleIdx="2" presStyleCnt="4">
        <dgm:presLayoutVars>
          <dgm:bulletEnabled val="1"/>
        </dgm:presLayoutVars>
      </dgm:prSet>
      <dgm:spPr/>
    </dgm:pt>
    <dgm:pt modelId="{DA67E485-D96C-43B4-95D7-B7C290829E74}" type="pres">
      <dgm:prSet presAssocID="{382FF40D-111E-4DAA-B985-5050EEE0B520}" presName="FiveConn_4-5" presStyleLbl="fgAccFollowNode1" presStyleIdx="3" presStyleCnt="4">
        <dgm:presLayoutVars>
          <dgm:bulletEnabled val="1"/>
        </dgm:presLayoutVars>
      </dgm:prSet>
      <dgm:spPr/>
    </dgm:pt>
    <dgm:pt modelId="{16CE75B6-C16A-46FD-B342-361BA9FDC614}" type="pres">
      <dgm:prSet presAssocID="{382FF40D-111E-4DAA-B985-5050EEE0B520}" presName="FiveNodes_1_text" presStyleLbl="node1" presStyleIdx="4" presStyleCnt="5">
        <dgm:presLayoutVars>
          <dgm:bulletEnabled val="1"/>
        </dgm:presLayoutVars>
      </dgm:prSet>
      <dgm:spPr/>
    </dgm:pt>
    <dgm:pt modelId="{2003B4CA-E71D-4FD7-81E2-8907E3180293}" type="pres">
      <dgm:prSet presAssocID="{382FF40D-111E-4DAA-B985-5050EEE0B520}" presName="FiveNodes_2_text" presStyleLbl="node1" presStyleIdx="4" presStyleCnt="5">
        <dgm:presLayoutVars>
          <dgm:bulletEnabled val="1"/>
        </dgm:presLayoutVars>
      </dgm:prSet>
      <dgm:spPr/>
    </dgm:pt>
    <dgm:pt modelId="{B8926E5F-C93D-4A29-A43C-2454973B989D}" type="pres">
      <dgm:prSet presAssocID="{382FF40D-111E-4DAA-B985-5050EEE0B520}" presName="FiveNodes_3_text" presStyleLbl="node1" presStyleIdx="4" presStyleCnt="5">
        <dgm:presLayoutVars>
          <dgm:bulletEnabled val="1"/>
        </dgm:presLayoutVars>
      </dgm:prSet>
      <dgm:spPr/>
    </dgm:pt>
    <dgm:pt modelId="{2B92E651-DE09-4BBC-AF90-B12BBA42A53F}" type="pres">
      <dgm:prSet presAssocID="{382FF40D-111E-4DAA-B985-5050EEE0B520}" presName="FiveNodes_4_text" presStyleLbl="node1" presStyleIdx="4" presStyleCnt="5">
        <dgm:presLayoutVars>
          <dgm:bulletEnabled val="1"/>
        </dgm:presLayoutVars>
      </dgm:prSet>
      <dgm:spPr/>
    </dgm:pt>
    <dgm:pt modelId="{7AB58B60-EB79-4F43-90E8-95EA9D6A2922}" type="pres">
      <dgm:prSet presAssocID="{382FF40D-111E-4DAA-B985-5050EEE0B520}" presName="FiveNodes_5_text" presStyleLbl="node1" presStyleIdx="4" presStyleCnt="5">
        <dgm:presLayoutVars>
          <dgm:bulletEnabled val="1"/>
        </dgm:presLayoutVars>
      </dgm:prSet>
      <dgm:spPr/>
    </dgm:pt>
  </dgm:ptLst>
  <dgm:cxnLst>
    <dgm:cxn modelId="{4E00170F-5A32-40F2-9995-C3544B1753E7}" type="presOf" srcId="{4E96584C-A047-44F2-81D7-F9462F073B61}" destId="{D37662E3-7289-4BF8-AD95-A1F3B9E8C736}" srcOrd="0" destOrd="0" presId="urn:microsoft.com/office/officeart/2005/8/layout/vProcess5"/>
    <dgm:cxn modelId="{42EBA213-6141-433D-84D1-3D578580EE98}" type="presOf" srcId="{68512B03-83FC-45F0-92F5-8512C6191B87}" destId="{9F40FA40-B2DC-4308-88BC-29EC5E9BFB60}" srcOrd="0" destOrd="0" presId="urn:microsoft.com/office/officeart/2005/8/layout/vProcess5"/>
    <dgm:cxn modelId="{6C70631B-5013-48A1-8A79-F32C9DBFB3E7}" srcId="{382FF40D-111E-4DAA-B985-5050EEE0B520}" destId="{289A54A0-8A91-428F-AC25-7A493F5A8B8B}" srcOrd="3" destOrd="0" parTransId="{56D1C595-DA35-49BC-8003-A7B99CB3C300}" sibTransId="{F6355FDC-50BA-467F-96AC-CDB53BB91042}"/>
    <dgm:cxn modelId="{93E64636-41B4-456C-BC3D-CB7CAB4401A5}" srcId="{382FF40D-111E-4DAA-B985-5050EEE0B520}" destId="{774C3A5F-1534-40C8-ACE9-800218CC280D}" srcOrd="4" destOrd="0" parTransId="{C916FAB1-5D91-4DD4-A900-15EFA03BD836}" sibTransId="{BED5B888-2002-4E35-9325-A66558D116D4}"/>
    <dgm:cxn modelId="{A3172E5C-E381-4FF3-924C-4BD8C468BB18}" type="presOf" srcId="{289A54A0-8A91-428F-AC25-7A493F5A8B8B}" destId="{598E39D9-9669-4CE5-AD60-1ECC865D7B98}" srcOrd="0" destOrd="0" presId="urn:microsoft.com/office/officeart/2005/8/layout/vProcess5"/>
    <dgm:cxn modelId="{6B95CC46-185E-454C-8563-9E3B03AC6A5B}" type="presOf" srcId="{29FDD4E3-8DF6-48F4-B936-B3CA72E5CEB9}" destId="{7B9B11F7-E4FF-46F7-9BC7-035561FE85D5}" srcOrd="0" destOrd="0" presId="urn:microsoft.com/office/officeart/2005/8/layout/vProcess5"/>
    <dgm:cxn modelId="{D42FDE75-A5B0-4125-B070-C1843FA20186}" srcId="{382FF40D-111E-4DAA-B985-5050EEE0B520}" destId="{68512B03-83FC-45F0-92F5-8512C6191B87}" srcOrd="0" destOrd="0" parTransId="{07F080CF-11B6-4E01-B5F5-63F1197977D3}" sibTransId="{1C05356E-FA87-4235-AF45-7CFA35D48B9B}"/>
    <dgm:cxn modelId="{46FBE159-F8E5-422A-9840-7BE482E4827D}" type="presOf" srcId="{774C3A5F-1534-40C8-ACE9-800218CC280D}" destId="{DE625870-EE8F-4ACD-8B85-A10F61C0798A}" srcOrd="0" destOrd="0" presId="urn:microsoft.com/office/officeart/2005/8/layout/vProcess5"/>
    <dgm:cxn modelId="{E6784D7A-E9BA-4721-AC39-C0B41F6E8220}" type="presOf" srcId="{E74A9DFF-74F5-428E-AFB5-569519E2ABF0}" destId="{19A206F8-98DB-4BDA-AAE4-31D52EB2CD68}" srcOrd="0" destOrd="0" presId="urn:microsoft.com/office/officeart/2005/8/layout/vProcess5"/>
    <dgm:cxn modelId="{DCD5BC81-045E-4783-B53D-779DDD2EBF02}" type="presOf" srcId="{56F37E85-7E11-4476-8735-CA1ED48D415C}" destId="{22982028-703A-4E99-B146-29E009651CB4}" srcOrd="0" destOrd="0" presId="urn:microsoft.com/office/officeart/2005/8/layout/vProcess5"/>
    <dgm:cxn modelId="{92226F94-AAB7-4892-B701-B49FBF36C8C2}" type="presOf" srcId="{F6355FDC-50BA-467F-96AC-CDB53BB91042}" destId="{DA67E485-D96C-43B4-95D7-B7C290829E74}" srcOrd="0" destOrd="0" presId="urn:microsoft.com/office/officeart/2005/8/layout/vProcess5"/>
    <dgm:cxn modelId="{F84CC997-0B7D-44E0-A0FA-80510E50FA03}" type="presOf" srcId="{382FF40D-111E-4DAA-B985-5050EEE0B520}" destId="{61A1B6CB-4DA2-4258-9A3D-26766567E899}" srcOrd="0" destOrd="0" presId="urn:microsoft.com/office/officeart/2005/8/layout/vProcess5"/>
    <dgm:cxn modelId="{B3B3C09F-2DC9-481F-BABC-D8A8820E78CD}" type="presOf" srcId="{774C3A5F-1534-40C8-ACE9-800218CC280D}" destId="{7AB58B60-EB79-4F43-90E8-95EA9D6A2922}" srcOrd="1" destOrd="0" presId="urn:microsoft.com/office/officeart/2005/8/layout/vProcess5"/>
    <dgm:cxn modelId="{F093EBA5-98D8-4E80-B4E0-CF5C03D52DAD}" type="presOf" srcId="{68512B03-83FC-45F0-92F5-8512C6191B87}" destId="{16CE75B6-C16A-46FD-B342-361BA9FDC614}" srcOrd="1" destOrd="0" presId="urn:microsoft.com/office/officeart/2005/8/layout/vProcess5"/>
    <dgm:cxn modelId="{F23E74BF-622F-4A5D-A69C-23AE0406B264}" type="presOf" srcId="{4E96584C-A047-44F2-81D7-F9462F073B61}" destId="{2003B4CA-E71D-4FD7-81E2-8907E3180293}" srcOrd="1" destOrd="0" presId="urn:microsoft.com/office/officeart/2005/8/layout/vProcess5"/>
    <dgm:cxn modelId="{15EFBCC0-C7AC-4F66-AF53-67F173A4A01F}" type="presOf" srcId="{1C05356E-FA87-4235-AF45-7CFA35D48B9B}" destId="{3FCC1431-C88F-4AE1-A9C6-46A44319DD65}" srcOrd="0" destOrd="0" presId="urn:microsoft.com/office/officeart/2005/8/layout/vProcess5"/>
    <dgm:cxn modelId="{B6ED03D6-BC8E-4E98-AFD6-5A8D5271B937}" type="presOf" srcId="{289A54A0-8A91-428F-AC25-7A493F5A8B8B}" destId="{2B92E651-DE09-4BBC-AF90-B12BBA42A53F}" srcOrd="1" destOrd="0" presId="urn:microsoft.com/office/officeart/2005/8/layout/vProcess5"/>
    <dgm:cxn modelId="{EE1E57DE-456D-432D-9E4A-B3E6BF4E7CA0}" srcId="{382FF40D-111E-4DAA-B985-5050EEE0B520}" destId="{4E96584C-A047-44F2-81D7-F9462F073B61}" srcOrd="1" destOrd="0" parTransId="{0E3688B3-1679-41E9-82A7-21DFBC0B60BD}" sibTransId="{E74A9DFF-74F5-428E-AFB5-569519E2ABF0}"/>
    <dgm:cxn modelId="{E71B56EB-2E40-46AE-9D3F-88EE7E49E7D8}" srcId="{382FF40D-111E-4DAA-B985-5050EEE0B520}" destId="{29FDD4E3-8DF6-48F4-B936-B3CA72E5CEB9}" srcOrd="2" destOrd="0" parTransId="{45F7E025-F6B1-4C3A-8C4F-35B4B934A753}" sibTransId="{56F37E85-7E11-4476-8735-CA1ED48D415C}"/>
    <dgm:cxn modelId="{460EE1F5-71E8-4044-A8B8-C4D5B3819671}" type="presOf" srcId="{29FDD4E3-8DF6-48F4-B936-B3CA72E5CEB9}" destId="{B8926E5F-C93D-4A29-A43C-2454973B989D}" srcOrd="1" destOrd="0" presId="urn:microsoft.com/office/officeart/2005/8/layout/vProcess5"/>
    <dgm:cxn modelId="{A10667BB-E09C-4186-8FD4-E6E36E7FEEA0}" type="presParOf" srcId="{61A1B6CB-4DA2-4258-9A3D-26766567E899}" destId="{57DD37ED-453A-484F-BD4A-BC9E26E1AFE5}" srcOrd="0" destOrd="0" presId="urn:microsoft.com/office/officeart/2005/8/layout/vProcess5"/>
    <dgm:cxn modelId="{B62B41ED-BFFF-4B1F-BABB-A739808676BE}" type="presParOf" srcId="{61A1B6CB-4DA2-4258-9A3D-26766567E899}" destId="{9F40FA40-B2DC-4308-88BC-29EC5E9BFB60}" srcOrd="1" destOrd="0" presId="urn:microsoft.com/office/officeart/2005/8/layout/vProcess5"/>
    <dgm:cxn modelId="{84228A7B-8893-405F-B0BC-08196C9F381A}" type="presParOf" srcId="{61A1B6CB-4DA2-4258-9A3D-26766567E899}" destId="{D37662E3-7289-4BF8-AD95-A1F3B9E8C736}" srcOrd="2" destOrd="0" presId="urn:microsoft.com/office/officeart/2005/8/layout/vProcess5"/>
    <dgm:cxn modelId="{7766AFF4-9458-4A58-8179-D75987E2291C}" type="presParOf" srcId="{61A1B6CB-4DA2-4258-9A3D-26766567E899}" destId="{7B9B11F7-E4FF-46F7-9BC7-035561FE85D5}" srcOrd="3" destOrd="0" presId="urn:microsoft.com/office/officeart/2005/8/layout/vProcess5"/>
    <dgm:cxn modelId="{1E8CF57B-3593-4DD0-98DC-2E6D6D3BE18F}" type="presParOf" srcId="{61A1B6CB-4DA2-4258-9A3D-26766567E899}" destId="{598E39D9-9669-4CE5-AD60-1ECC865D7B98}" srcOrd="4" destOrd="0" presId="urn:microsoft.com/office/officeart/2005/8/layout/vProcess5"/>
    <dgm:cxn modelId="{F479691C-5581-43D7-BF53-916D0D8F47A5}" type="presParOf" srcId="{61A1B6CB-4DA2-4258-9A3D-26766567E899}" destId="{DE625870-EE8F-4ACD-8B85-A10F61C0798A}" srcOrd="5" destOrd="0" presId="urn:microsoft.com/office/officeart/2005/8/layout/vProcess5"/>
    <dgm:cxn modelId="{B0AD4FF0-C5E2-4A14-B94F-EB5ED4ECE47D}" type="presParOf" srcId="{61A1B6CB-4DA2-4258-9A3D-26766567E899}" destId="{3FCC1431-C88F-4AE1-A9C6-46A44319DD65}" srcOrd="6" destOrd="0" presId="urn:microsoft.com/office/officeart/2005/8/layout/vProcess5"/>
    <dgm:cxn modelId="{27B45247-BB22-446B-9643-227C0EEDF78D}" type="presParOf" srcId="{61A1B6CB-4DA2-4258-9A3D-26766567E899}" destId="{19A206F8-98DB-4BDA-AAE4-31D52EB2CD68}" srcOrd="7" destOrd="0" presId="urn:microsoft.com/office/officeart/2005/8/layout/vProcess5"/>
    <dgm:cxn modelId="{FCC4D3AE-B415-4578-AE02-4932EFDDC8F8}" type="presParOf" srcId="{61A1B6CB-4DA2-4258-9A3D-26766567E899}" destId="{22982028-703A-4E99-B146-29E009651CB4}" srcOrd="8" destOrd="0" presId="urn:microsoft.com/office/officeart/2005/8/layout/vProcess5"/>
    <dgm:cxn modelId="{07905F66-2357-4D2F-A149-1393F8E35185}" type="presParOf" srcId="{61A1B6CB-4DA2-4258-9A3D-26766567E899}" destId="{DA67E485-D96C-43B4-95D7-B7C290829E74}" srcOrd="9" destOrd="0" presId="urn:microsoft.com/office/officeart/2005/8/layout/vProcess5"/>
    <dgm:cxn modelId="{C36A931B-173D-41BE-A29E-21801CF57625}" type="presParOf" srcId="{61A1B6CB-4DA2-4258-9A3D-26766567E899}" destId="{16CE75B6-C16A-46FD-B342-361BA9FDC614}" srcOrd="10" destOrd="0" presId="urn:microsoft.com/office/officeart/2005/8/layout/vProcess5"/>
    <dgm:cxn modelId="{3C5F9201-CA33-4013-BB1C-4285B1500A85}" type="presParOf" srcId="{61A1B6CB-4DA2-4258-9A3D-26766567E899}" destId="{2003B4CA-E71D-4FD7-81E2-8907E3180293}" srcOrd="11" destOrd="0" presId="urn:microsoft.com/office/officeart/2005/8/layout/vProcess5"/>
    <dgm:cxn modelId="{8C40CCEC-3447-4612-9949-471F6F988B98}" type="presParOf" srcId="{61A1B6CB-4DA2-4258-9A3D-26766567E899}" destId="{B8926E5F-C93D-4A29-A43C-2454973B989D}" srcOrd="12" destOrd="0" presId="urn:microsoft.com/office/officeart/2005/8/layout/vProcess5"/>
    <dgm:cxn modelId="{270CDF77-C6BF-440C-B30A-8D281A99B3AA}" type="presParOf" srcId="{61A1B6CB-4DA2-4258-9A3D-26766567E899}" destId="{2B92E651-DE09-4BBC-AF90-B12BBA42A53F}" srcOrd="13" destOrd="0" presId="urn:microsoft.com/office/officeart/2005/8/layout/vProcess5"/>
    <dgm:cxn modelId="{C8720B07-8D15-4A3B-B393-6A37F4DFAAA5}" type="presParOf" srcId="{61A1B6CB-4DA2-4258-9A3D-26766567E899}" destId="{7AB58B60-EB79-4F43-90E8-95EA9D6A2922}"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40FA40-B2DC-4308-88BC-29EC5E9BFB60}">
      <dsp:nvSpPr>
        <dsp:cNvPr id="0" name=""/>
        <dsp:cNvSpPr/>
      </dsp:nvSpPr>
      <dsp:spPr>
        <a:xfrm>
          <a:off x="0" y="0"/>
          <a:ext cx="8260810" cy="645795"/>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Decorators have the same supertype as the object they decorate.</a:t>
          </a:r>
          <a:endParaRPr lang="en-US" sz="1700" kern="1200"/>
        </a:p>
      </dsp:txBody>
      <dsp:txXfrm>
        <a:off x="18915" y="18915"/>
        <a:ext cx="7488388" cy="607965"/>
      </dsp:txXfrm>
    </dsp:sp>
    <dsp:sp modelId="{D37662E3-7289-4BF8-AD95-A1F3B9E8C736}">
      <dsp:nvSpPr>
        <dsp:cNvPr id="0" name=""/>
        <dsp:cNvSpPr/>
      </dsp:nvSpPr>
      <dsp:spPr>
        <a:xfrm>
          <a:off x="616878" y="735488"/>
          <a:ext cx="8260810" cy="645795"/>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You can use one or more decorators to wrap the object.</a:t>
          </a:r>
          <a:endParaRPr lang="en-US" sz="1700" kern="1200"/>
        </a:p>
      </dsp:txBody>
      <dsp:txXfrm>
        <a:off x="635793" y="754403"/>
        <a:ext cx="7186334" cy="607965"/>
      </dsp:txXfrm>
    </dsp:sp>
    <dsp:sp modelId="{7B9B11F7-E4FF-46F7-9BC7-035561FE85D5}">
      <dsp:nvSpPr>
        <dsp:cNvPr id="0" name=""/>
        <dsp:cNvSpPr/>
      </dsp:nvSpPr>
      <dsp:spPr>
        <a:xfrm>
          <a:off x="1233757" y="1470977"/>
          <a:ext cx="8260810" cy="645795"/>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Given that the decorator has same supertype as the object it decorates, we can pass around a decorated object in place of the original object.</a:t>
          </a:r>
          <a:endParaRPr lang="en-US" sz="1700" kern="1200"/>
        </a:p>
      </dsp:txBody>
      <dsp:txXfrm>
        <a:off x="1252672" y="1489892"/>
        <a:ext cx="7186334" cy="607965"/>
      </dsp:txXfrm>
    </dsp:sp>
    <dsp:sp modelId="{598E39D9-9669-4CE5-AD60-1ECC865D7B98}">
      <dsp:nvSpPr>
        <dsp:cNvPr id="0" name=""/>
        <dsp:cNvSpPr/>
      </dsp:nvSpPr>
      <dsp:spPr>
        <a:xfrm>
          <a:off x="1850636" y="2206466"/>
          <a:ext cx="8260810" cy="645795"/>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The decorator adds its own behaviour either before and/or after delegating to the object it decorates to do the rest of the job.</a:t>
          </a:r>
          <a:endParaRPr lang="en-US" sz="1700" kern="1200"/>
        </a:p>
      </dsp:txBody>
      <dsp:txXfrm>
        <a:off x="1869551" y="2225381"/>
        <a:ext cx="7186334" cy="607965"/>
      </dsp:txXfrm>
    </dsp:sp>
    <dsp:sp modelId="{DE625870-EE8F-4ACD-8B85-A10F61C0798A}">
      <dsp:nvSpPr>
        <dsp:cNvPr id="0" name=""/>
        <dsp:cNvSpPr/>
      </dsp:nvSpPr>
      <dsp:spPr>
        <a:xfrm>
          <a:off x="2467514" y="2941955"/>
          <a:ext cx="8260810" cy="645795"/>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Objects can be decorated at any time, so we can decorate objects dynamically at run time with as many decorators we like.</a:t>
          </a:r>
          <a:endParaRPr lang="en-US" sz="1700" kern="1200"/>
        </a:p>
      </dsp:txBody>
      <dsp:txXfrm>
        <a:off x="2486429" y="2960870"/>
        <a:ext cx="7186334" cy="607965"/>
      </dsp:txXfrm>
    </dsp:sp>
    <dsp:sp modelId="{3FCC1431-C88F-4AE1-A9C6-46A44319DD65}">
      <dsp:nvSpPr>
        <dsp:cNvPr id="0" name=""/>
        <dsp:cNvSpPr/>
      </dsp:nvSpPr>
      <dsp:spPr>
        <a:xfrm>
          <a:off x="7841043" y="471789"/>
          <a:ext cx="419766" cy="419766"/>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935490" y="471789"/>
        <a:ext cx="230872" cy="315874"/>
      </dsp:txXfrm>
    </dsp:sp>
    <dsp:sp modelId="{19A206F8-98DB-4BDA-AAE4-31D52EB2CD68}">
      <dsp:nvSpPr>
        <dsp:cNvPr id="0" name=""/>
        <dsp:cNvSpPr/>
      </dsp:nvSpPr>
      <dsp:spPr>
        <a:xfrm>
          <a:off x="8457922" y="1207277"/>
          <a:ext cx="419766" cy="419766"/>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552369" y="1207277"/>
        <a:ext cx="230872" cy="315874"/>
      </dsp:txXfrm>
    </dsp:sp>
    <dsp:sp modelId="{22982028-703A-4E99-B146-29E009651CB4}">
      <dsp:nvSpPr>
        <dsp:cNvPr id="0" name=""/>
        <dsp:cNvSpPr/>
      </dsp:nvSpPr>
      <dsp:spPr>
        <a:xfrm>
          <a:off x="9074800" y="1932003"/>
          <a:ext cx="419766" cy="419766"/>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169247" y="1932003"/>
        <a:ext cx="230872" cy="315874"/>
      </dsp:txXfrm>
    </dsp:sp>
    <dsp:sp modelId="{DA67E485-D96C-43B4-95D7-B7C290829E74}">
      <dsp:nvSpPr>
        <dsp:cNvPr id="0" name=""/>
        <dsp:cNvSpPr/>
      </dsp:nvSpPr>
      <dsp:spPr>
        <a:xfrm>
          <a:off x="9691679" y="2674667"/>
          <a:ext cx="419766" cy="419766"/>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786126" y="2674667"/>
        <a:ext cx="230872" cy="31587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Friday, August 7, 2020</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54434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Friday, August 7, 2020</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562752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Friday, August 7, 2020</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932854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Friday, August 7, 2020</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3184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Friday, August 7, 2020</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868441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Friday, August 7, 2020</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188944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Friday, August 7, 2020</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191670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Friday, August 7, 2020</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914741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Friday, August 7, 2020</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175903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Friday, August 7, 2020</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2799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Friday, August 7, 2020</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89070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Friday, August 7, 2020</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254331535"/>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34" r:id="rId6"/>
    <p:sldLayoutId id="2147483730" r:id="rId7"/>
    <p:sldLayoutId id="2147483731" r:id="rId8"/>
    <p:sldLayoutId id="2147483732" r:id="rId9"/>
    <p:sldLayoutId id="2147483733" r:id="rId10"/>
    <p:sldLayoutId id="2147483735" r:id="rId11"/>
  </p:sldLayoutIdLst>
  <p:hf sldNum="0" hdr="0" ftr="0" dt="0"/>
  <p:txStyles>
    <p:titleStyle>
      <a:lvl1pPr algn="l" defTabSz="914400" rtl="0" eaLnBrk="1" latinLnBrk="0" hangingPunct="1">
        <a:lnSpc>
          <a:spcPct val="100000"/>
        </a:lnSpc>
        <a:spcBef>
          <a:spcPct val="0"/>
        </a:spcBef>
        <a:buNone/>
        <a:defRPr sz="3200" kern="1200" cap="none"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7EFF05-A8DA-4B3E-9C21-7A04283D4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4CA1620-2C02-4B4E-97C8-06FCE85EE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657DE79-27F8-4881-BE3B-5321D1801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DB733608-1322-485D-B942-B827E6997F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3527" y="954724"/>
            <a:ext cx="10904945" cy="3364228"/>
            <a:chOff x="643527" y="954724"/>
            <a:chExt cx="10904945" cy="3364228"/>
          </a:xfrm>
        </p:grpSpPr>
        <p:sp>
          <p:nvSpPr>
            <p:cNvPr id="17" name="Freeform 78">
              <a:extLst>
                <a:ext uri="{FF2B5EF4-FFF2-40B4-BE49-F238E27FC236}">
                  <a16:creationId xmlns:a16="http://schemas.microsoft.com/office/drawing/2014/main" id="{7975F1CD-7143-447F-AC1A-8D3EA46ECA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800114">
              <a:off x="1083914" y="3331230"/>
              <a:ext cx="879143" cy="903430"/>
            </a:xfrm>
            <a:custGeom>
              <a:avLst/>
              <a:gdLst>
                <a:gd name="T0" fmla="*/ 32 w 58"/>
                <a:gd name="T1" fmla="*/ 56 h 60"/>
                <a:gd name="T2" fmla="*/ 24 w 58"/>
                <a:gd name="T3" fmla="*/ 48 h 60"/>
                <a:gd name="T4" fmla="*/ 14 w 58"/>
                <a:gd name="T5" fmla="*/ 36 h 60"/>
                <a:gd name="T6" fmla="*/ 7 w 58"/>
                <a:gd name="T7" fmla="*/ 29 h 60"/>
                <a:gd name="T8" fmla="*/ 1 w 58"/>
                <a:gd name="T9" fmla="*/ 17 h 60"/>
                <a:gd name="T10" fmla="*/ 7 w 58"/>
                <a:gd name="T11" fmla="*/ 4 h 60"/>
                <a:gd name="T12" fmla="*/ 17 w 58"/>
                <a:gd name="T13" fmla="*/ 1 h 60"/>
                <a:gd name="T14" fmla="*/ 29 w 58"/>
                <a:gd name="T15" fmla="*/ 6 h 60"/>
                <a:gd name="T16" fmla="*/ 31 w 58"/>
                <a:gd name="T17" fmla="*/ 8 h 60"/>
                <a:gd name="T18" fmla="*/ 38 w 58"/>
                <a:gd name="T19" fmla="*/ 15 h 60"/>
                <a:gd name="T20" fmla="*/ 44 w 58"/>
                <a:gd name="T21" fmla="*/ 22 h 60"/>
                <a:gd name="T22" fmla="*/ 54 w 58"/>
                <a:gd name="T23" fmla="*/ 33 h 60"/>
                <a:gd name="T24" fmla="*/ 58 w 58"/>
                <a:gd name="T25" fmla="*/ 44 h 60"/>
                <a:gd name="T26" fmla="*/ 53 w 58"/>
                <a:gd name="T27" fmla="*/ 54 h 60"/>
                <a:gd name="T28" fmla="*/ 42 w 58"/>
                <a:gd name="T29" fmla="*/ 60 h 60"/>
                <a:gd name="T30" fmla="*/ 32 w 58"/>
                <a:gd name="T31"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60">
                  <a:moveTo>
                    <a:pt x="32" y="56"/>
                  </a:moveTo>
                  <a:cubicBezTo>
                    <a:pt x="30" y="54"/>
                    <a:pt x="31" y="55"/>
                    <a:pt x="24" y="48"/>
                  </a:cubicBezTo>
                  <a:cubicBezTo>
                    <a:pt x="17" y="40"/>
                    <a:pt x="14" y="36"/>
                    <a:pt x="14" y="36"/>
                  </a:cubicBezTo>
                  <a:cubicBezTo>
                    <a:pt x="8" y="30"/>
                    <a:pt x="14" y="37"/>
                    <a:pt x="7" y="29"/>
                  </a:cubicBezTo>
                  <a:cubicBezTo>
                    <a:pt x="3" y="24"/>
                    <a:pt x="1" y="20"/>
                    <a:pt x="1" y="17"/>
                  </a:cubicBezTo>
                  <a:cubicBezTo>
                    <a:pt x="0" y="13"/>
                    <a:pt x="3" y="9"/>
                    <a:pt x="7" y="4"/>
                  </a:cubicBezTo>
                  <a:cubicBezTo>
                    <a:pt x="10" y="2"/>
                    <a:pt x="13" y="0"/>
                    <a:pt x="17" y="1"/>
                  </a:cubicBezTo>
                  <a:cubicBezTo>
                    <a:pt x="21" y="1"/>
                    <a:pt x="25" y="3"/>
                    <a:pt x="29" y="6"/>
                  </a:cubicBezTo>
                  <a:cubicBezTo>
                    <a:pt x="31" y="8"/>
                    <a:pt x="31" y="8"/>
                    <a:pt x="31" y="8"/>
                  </a:cubicBezTo>
                  <a:cubicBezTo>
                    <a:pt x="33" y="11"/>
                    <a:pt x="37" y="15"/>
                    <a:pt x="38" y="15"/>
                  </a:cubicBezTo>
                  <a:cubicBezTo>
                    <a:pt x="42" y="20"/>
                    <a:pt x="40" y="18"/>
                    <a:pt x="44" y="22"/>
                  </a:cubicBezTo>
                  <a:cubicBezTo>
                    <a:pt x="51" y="29"/>
                    <a:pt x="50" y="29"/>
                    <a:pt x="54" y="33"/>
                  </a:cubicBezTo>
                  <a:cubicBezTo>
                    <a:pt x="57" y="37"/>
                    <a:pt x="58" y="40"/>
                    <a:pt x="58" y="44"/>
                  </a:cubicBezTo>
                  <a:cubicBezTo>
                    <a:pt x="58" y="47"/>
                    <a:pt x="56" y="50"/>
                    <a:pt x="53" y="54"/>
                  </a:cubicBezTo>
                  <a:cubicBezTo>
                    <a:pt x="49" y="58"/>
                    <a:pt x="45" y="60"/>
                    <a:pt x="42" y="60"/>
                  </a:cubicBezTo>
                  <a:cubicBezTo>
                    <a:pt x="39" y="60"/>
                    <a:pt x="36" y="59"/>
                    <a:pt x="32" y="5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18" name="Freeform 79">
              <a:extLst>
                <a:ext uri="{FF2B5EF4-FFF2-40B4-BE49-F238E27FC236}">
                  <a16:creationId xmlns:a16="http://schemas.microsoft.com/office/drawing/2014/main" id="{501A6B8C-11DF-404A-89DD-354DA4C193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800114">
              <a:off x="869193" y="1989904"/>
              <a:ext cx="743890" cy="1195221"/>
            </a:xfrm>
            <a:custGeom>
              <a:avLst/>
              <a:gdLst>
                <a:gd name="T0" fmla="*/ 15 w 49"/>
                <a:gd name="T1" fmla="*/ 65 h 79"/>
                <a:gd name="T2" fmla="*/ 12 w 49"/>
                <a:gd name="T3" fmla="*/ 54 h 79"/>
                <a:gd name="T4" fmla="*/ 8 w 49"/>
                <a:gd name="T5" fmla="*/ 33 h 79"/>
                <a:gd name="T6" fmla="*/ 38 w 49"/>
                <a:gd name="T7" fmla="*/ 24 h 79"/>
                <a:gd name="T8" fmla="*/ 45 w 49"/>
                <a:gd name="T9" fmla="*/ 70 h 79"/>
                <a:gd name="T10" fmla="*/ 15 w 49"/>
                <a:gd name="T11" fmla="*/ 65 h 79"/>
              </a:gdLst>
              <a:ahLst/>
              <a:cxnLst>
                <a:cxn ang="0">
                  <a:pos x="T0" y="T1"/>
                </a:cxn>
                <a:cxn ang="0">
                  <a:pos x="T2" y="T3"/>
                </a:cxn>
                <a:cxn ang="0">
                  <a:pos x="T4" y="T5"/>
                </a:cxn>
                <a:cxn ang="0">
                  <a:pos x="T6" y="T7"/>
                </a:cxn>
                <a:cxn ang="0">
                  <a:pos x="T8" y="T9"/>
                </a:cxn>
                <a:cxn ang="0">
                  <a:pos x="T10" y="T11"/>
                </a:cxn>
              </a:cxnLst>
              <a:rect l="0" t="0" r="r" b="b"/>
              <a:pathLst>
                <a:path w="49" h="79">
                  <a:moveTo>
                    <a:pt x="15" y="65"/>
                  </a:moveTo>
                  <a:cubicBezTo>
                    <a:pt x="14" y="59"/>
                    <a:pt x="13" y="58"/>
                    <a:pt x="12" y="54"/>
                  </a:cubicBezTo>
                  <a:cubicBezTo>
                    <a:pt x="11" y="45"/>
                    <a:pt x="10" y="40"/>
                    <a:pt x="8" y="33"/>
                  </a:cubicBezTo>
                  <a:cubicBezTo>
                    <a:pt x="0" y="9"/>
                    <a:pt x="34" y="0"/>
                    <a:pt x="38" y="24"/>
                  </a:cubicBezTo>
                  <a:cubicBezTo>
                    <a:pt x="43" y="43"/>
                    <a:pt x="49" y="60"/>
                    <a:pt x="45" y="70"/>
                  </a:cubicBezTo>
                  <a:cubicBezTo>
                    <a:pt x="38" y="77"/>
                    <a:pt x="19" y="79"/>
                    <a:pt x="15"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19" name="Freeform 85">
              <a:extLst>
                <a:ext uri="{FF2B5EF4-FFF2-40B4-BE49-F238E27FC236}">
                  <a16:creationId xmlns:a16="http://schemas.microsoft.com/office/drawing/2014/main" id="{14D1F65C-CD34-4E1F-8743-D3879A8712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800114">
              <a:off x="1316205" y="967005"/>
              <a:ext cx="541011" cy="981989"/>
            </a:xfrm>
            <a:custGeom>
              <a:avLst/>
              <a:gdLst>
                <a:gd name="T0" fmla="*/ 36 w 36"/>
                <a:gd name="T1" fmla="*/ 15 h 65"/>
                <a:gd name="T2" fmla="*/ 34 w 36"/>
                <a:gd name="T3" fmla="*/ 5 h 65"/>
                <a:gd name="T4" fmla="*/ 28 w 36"/>
                <a:gd name="T5" fmla="*/ 1 h 65"/>
                <a:gd name="T6" fmla="*/ 23 w 36"/>
                <a:gd name="T7" fmla="*/ 0 h 65"/>
                <a:gd name="T8" fmla="*/ 13 w 36"/>
                <a:gd name="T9" fmla="*/ 1 h 65"/>
                <a:gd name="T10" fmla="*/ 7 w 36"/>
                <a:gd name="T11" fmla="*/ 9 h 65"/>
                <a:gd name="T12" fmla="*/ 4 w 36"/>
                <a:gd name="T13" fmla="*/ 19 h 65"/>
                <a:gd name="T14" fmla="*/ 0 w 36"/>
                <a:gd name="T15" fmla="*/ 44 h 65"/>
                <a:gd name="T16" fmla="*/ 1 w 36"/>
                <a:gd name="T17" fmla="*/ 58 h 65"/>
                <a:gd name="T18" fmla="*/ 8 w 36"/>
                <a:gd name="T19" fmla="*/ 64 h 65"/>
                <a:gd name="T20" fmla="*/ 16 w 36"/>
                <a:gd name="T21" fmla="*/ 65 h 65"/>
                <a:gd name="T22" fmla="*/ 25 w 36"/>
                <a:gd name="T23" fmla="*/ 63 h 65"/>
                <a:gd name="T24" fmla="*/ 31 w 36"/>
                <a:gd name="T25" fmla="*/ 55 h 65"/>
                <a:gd name="T26" fmla="*/ 34 w 36"/>
                <a:gd name="T27" fmla="*/ 40 h 65"/>
                <a:gd name="T28" fmla="*/ 36 w 36"/>
                <a:gd name="T29" fmla="*/ 1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65">
                  <a:moveTo>
                    <a:pt x="36" y="15"/>
                  </a:moveTo>
                  <a:cubicBezTo>
                    <a:pt x="36" y="10"/>
                    <a:pt x="35" y="7"/>
                    <a:pt x="34" y="5"/>
                  </a:cubicBezTo>
                  <a:cubicBezTo>
                    <a:pt x="33" y="3"/>
                    <a:pt x="31" y="2"/>
                    <a:pt x="28" y="1"/>
                  </a:cubicBezTo>
                  <a:cubicBezTo>
                    <a:pt x="27" y="1"/>
                    <a:pt x="25" y="1"/>
                    <a:pt x="23" y="0"/>
                  </a:cubicBezTo>
                  <a:cubicBezTo>
                    <a:pt x="19" y="0"/>
                    <a:pt x="16" y="0"/>
                    <a:pt x="13" y="1"/>
                  </a:cubicBezTo>
                  <a:cubicBezTo>
                    <a:pt x="11" y="2"/>
                    <a:pt x="9" y="4"/>
                    <a:pt x="7" y="9"/>
                  </a:cubicBezTo>
                  <a:cubicBezTo>
                    <a:pt x="6" y="13"/>
                    <a:pt x="5" y="17"/>
                    <a:pt x="4" y="19"/>
                  </a:cubicBezTo>
                  <a:cubicBezTo>
                    <a:pt x="2" y="29"/>
                    <a:pt x="0" y="44"/>
                    <a:pt x="0" y="44"/>
                  </a:cubicBezTo>
                  <a:cubicBezTo>
                    <a:pt x="0" y="50"/>
                    <a:pt x="0" y="55"/>
                    <a:pt x="1" y="58"/>
                  </a:cubicBezTo>
                  <a:cubicBezTo>
                    <a:pt x="2" y="61"/>
                    <a:pt x="5" y="63"/>
                    <a:pt x="8" y="64"/>
                  </a:cubicBezTo>
                  <a:cubicBezTo>
                    <a:pt x="11" y="65"/>
                    <a:pt x="13" y="65"/>
                    <a:pt x="16" y="65"/>
                  </a:cubicBezTo>
                  <a:cubicBezTo>
                    <a:pt x="19" y="65"/>
                    <a:pt x="22" y="64"/>
                    <a:pt x="25" y="63"/>
                  </a:cubicBezTo>
                  <a:cubicBezTo>
                    <a:pt x="28" y="61"/>
                    <a:pt x="30" y="59"/>
                    <a:pt x="31" y="55"/>
                  </a:cubicBezTo>
                  <a:cubicBezTo>
                    <a:pt x="32" y="50"/>
                    <a:pt x="31" y="54"/>
                    <a:pt x="34" y="40"/>
                  </a:cubicBezTo>
                  <a:lnTo>
                    <a:pt x="36" y="1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0" name="Freeform 80">
              <a:extLst>
                <a:ext uri="{FF2B5EF4-FFF2-40B4-BE49-F238E27FC236}">
                  <a16:creationId xmlns:a16="http://schemas.microsoft.com/office/drawing/2014/main" id="{E5C58F66-1B6C-4935-9BB4-583D612CD2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62739" y="2385730"/>
              <a:ext cx="985733" cy="504616"/>
            </a:xfrm>
            <a:custGeom>
              <a:avLst/>
              <a:gdLst>
                <a:gd name="T0" fmla="*/ 53 w 66"/>
                <a:gd name="T1" fmla="*/ 33 h 34"/>
                <a:gd name="T2" fmla="*/ 39 w 66"/>
                <a:gd name="T3" fmla="*/ 33 h 34"/>
                <a:gd name="T4" fmla="*/ 21 w 66"/>
                <a:gd name="T5" fmla="*/ 33 h 34"/>
                <a:gd name="T6" fmla="*/ 12 w 66"/>
                <a:gd name="T7" fmla="*/ 32 h 34"/>
                <a:gd name="T8" fmla="*/ 3 w 66"/>
                <a:gd name="T9" fmla="*/ 28 h 34"/>
                <a:gd name="T10" fmla="*/ 0 w 66"/>
                <a:gd name="T11" fmla="*/ 21 h 34"/>
                <a:gd name="T12" fmla="*/ 0 w 66"/>
                <a:gd name="T13" fmla="*/ 16 h 34"/>
                <a:gd name="T14" fmla="*/ 3 w 66"/>
                <a:gd name="T15" fmla="*/ 7 h 34"/>
                <a:gd name="T16" fmla="*/ 11 w 66"/>
                <a:gd name="T17" fmla="*/ 3 h 34"/>
                <a:gd name="T18" fmla="*/ 23 w 66"/>
                <a:gd name="T19" fmla="*/ 2 h 34"/>
                <a:gd name="T20" fmla="*/ 43 w 66"/>
                <a:gd name="T21" fmla="*/ 0 h 34"/>
                <a:gd name="T22" fmla="*/ 48 w 66"/>
                <a:gd name="T23" fmla="*/ 0 h 34"/>
                <a:gd name="T24" fmla="*/ 62 w 66"/>
                <a:gd name="T25" fmla="*/ 4 h 34"/>
                <a:gd name="T26" fmla="*/ 66 w 66"/>
                <a:gd name="T27" fmla="*/ 13 h 34"/>
                <a:gd name="T28" fmla="*/ 66 w 66"/>
                <a:gd name="T29" fmla="*/ 20 h 34"/>
                <a:gd name="T30" fmla="*/ 62 w 66"/>
                <a:gd name="T31" fmla="*/ 29 h 34"/>
                <a:gd name="T32" fmla="*/ 53 w 66"/>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34">
                  <a:moveTo>
                    <a:pt x="53" y="33"/>
                  </a:moveTo>
                  <a:cubicBezTo>
                    <a:pt x="47" y="33"/>
                    <a:pt x="53" y="34"/>
                    <a:pt x="39" y="33"/>
                  </a:cubicBezTo>
                  <a:cubicBezTo>
                    <a:pt x="24" y="33"/>
                    <a:pt x="21" y="33"/>
                    <a:pt x="21" y="33"/>
                  </a:cubicBezTo>
                  <a:cubicBezTo>
                    <a:pt x="12" y="32"/>
                    <a:pt x="12" y="32"/>
                    <a:pt x="12" y="32"/>
                  </a:cubicBezTo>
                  <a:cubicBezTo>
                    <a:pt x="7" y="31"/>
                    <a:pt x="4" y="30"/>
                    <a:pt x="3" y="28"/>
                  </a:cubicBezTo>
                  <a:cubicBezTo>
                    <a:pt x="1" y="26"/>
                    <a:pt x="0" y="24"/>
                    <a:pt x="0" y="21"/>
                  </a:cubicBezTo>
                  <a:cubicBezTo>
                    <a:pt x="0" y="21"/>
                    <a:pt x="0" y="19"/>
                    <a:pt x="0" y="16"/>
                  </a:cubicBezTo>
                  <a:cubicBezTo>
                    <a:pt x="0" y="13"/>
                    <a:pt x="1" y="10"/>
                    <a:pt x="3" y="7"/>
                  </a:cubicBezTo>
                  <a:cubicBezTo>
                    <a:pt x="4" y="5"/>
                    <a:pt x="7" y="3"/>
                    <a:pt x="11" y="3"/>
                  </a:cubicBezTo>
                  <a:cubicBezTo>
                    <a:pt x="16" y="2"/>
                    <a:pt x="20" y="2"/>
                    <a:pt x="23" y="2"/>
                  </a:cubicBezTo>
                  <a:cubicBezTo>
                    <a:pt x="32" y="1"/>
                    <a:pt x="37" y="0"/>
                    <a:pt x="43" y="0"/>
                  </a:cubicBezTo>
                  <a:cubicBezTo>
                    <a:pt x="48" y="0"/>
                    <a:pt x="48" y="0"/>
                    <a:pt x="48" y="0"/>
                  </a:cubicBezTo>
                  <a:cubicBezTo>
                    <a:pt x="54" y="1"/>
                    <a:pt x="59" y="3"/>
                    <a:pt x="62" y="4"/>
                  </a:cubicBezTo>
                  <a:cubicBezTo>
                    <a:pt x="65" y="6"/>
                    <a:pt x="66" y="9"/>
                    <a:pt x="66" y="13"/>
                  </a:cubicBezTo>
                  <a:cubicBezTo>
                    <a:pt x="66" y="15"/>
                    <a:pt x="66" y="17"/>
                    <a:pt x="66" y="20"/>
                  </a:cubicBezTo>
                  <a:cubicBezTo>
                    <a:pt x="65" y="23"/>
                    <a:pt x="64" y="26"/>
                    <a:pt x="62" y="29"/>
                  </a:cubicBezTo>
                  <a:cubicBezTo>
                    <a:pt x="60" y="31"/>
                    <a:pt x="57" y="32"/>
                    <a:pt x="53" y="3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1" name="Freeform 84">
              <a:extLst>
                <a:ext uri="{FF2B5EF4-FFF2-40B4-BE49-F238E27FC236}">
                  <a16:creationId xmlns:a16="http://schemas.microsoft.com/office/drawing/2014/main" id="{F41F116D-556B-4BC2-9DCD-46DA7CCC0E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874527">
              <a:off x="10288245" y="954724"/>
              <a:ext cx="852074" cy="892781"/>
            </a:xfrm>
            <a:custGeom>
              <a:avLst/>
              <a:gdLst>
                <a:gd name="T0" fmla="*/ 4 w 57"/>
                <a:gd name="T1" fmla="*/ 34 h 60"/>
                <a:gd name="T2" fmla="*/ 17 w 57"/>
                <a:gd name="T3" fmla="*/ 18 h 60"/>
                <a:gd name="T4" fmla="*/ 26 w 57"/>
                <a:gd name="T5" fmla="*/ 8 h 60"/>
                <a:gd name="T6" fmla="*/ 29 w 57"/>
                <a:gd name="T7" fmla="*/ 5 h 60"/>
                <a:gd name="T8" fmla="*/ 41 w 57"/>
                <a:gd name="T9" fmla="*/ 0 h 60"/>
                <a:gd name="T10" fmla="*/ 51 w 57"/>
                <a:gd name="T11" fmla="*/ 6 h 60"/>
                <a:gd name="T12" fmla="*/ 56 w 57"/>
                <a:gd name="T13" fmla="*/ 16 h 60"/>
                <a:gd name="T14" fmla="*/ 51 w 57"/>
                <a:gd name="T15" fmla="*/ 28 h 60"/>
                <a:gd name="T16" fmla="*/ 29 w 57"/>
                <a:gd name="T17" fmla="*/ 53 h 60"/>
                <a:gd name="T18" fmla="*/ 17 w 57"/>
                <a:gd name="T19" fmla="*/ 59 h 60"/>
                <a:gd name="T20" fmla="*/ 5 w 57"/>
                <a:gd name="T21" fmla="*/ 54 h 60"/>
                <a:gd name="T22" fmla="*/ 0 w 57"/>
                <a:gd name="T23" fmla="*/ 45 h 60"/>
                <a:gd name="T24" fmla="*/ 4 w 57"/>
                <a:gd name="T2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0">
                  <a:moveTo>
                    <a:pt x="4" y="34"/>
                  </a:moveTo>
                  <a:cubicBezTo>
                    <a:pt x="5" y="33"/>
                    <a:pt x="17" y="18"/>
                    <a:pt x="17" y="18"/>
                  </a:cubicBezTo>
                  <a:cubicBezTo>
                    <a:pt x="21" y="14"/>
                    <a:pt x="24" y="10"/>
                    <a:pt x="26" y="8"/>
                  </a:cubicBezTo>
                  <a:cubicBezTo>
                    <a:pt x="29" y="5"/>
                    <a:pt x="29" y="5"/>
                    <a:pt x="29" y="5"/>
                  </a:cubicBezTo>
                  <a:cubicBezTo>
                    <a:pt x="34" y="2"/>
                    <a:pt x="38" y="0"/>
                    <a:pt x="41" y="0"/>
                  </a:cubicBezTo>
                  <a:cubicBezTo>
                    <a:pt x="44" y="1"/>
                    <a:pt x="47" y="2"/>
                    <a:pt x="51" y="6"/>
                  </a:cubicBezTo>
                  <a:cubicBezTo>
                    <a:pt x="55" y="10"/>
                    <a:pt x="57" y="13"/>
                    <a:pt x="56" y="16"/>
                  </a:cubicBezTo>
                  <a:cubicBezTo>
                    <a:pt x="56" y="19"/>
                    <a:pt x="54" y="23"/>
                    <a:pt x="51" y="28"/>
                  </a:cubicBezTo>
                  <a:cubicBezTo>
                    <a:pt x="51" y="28"/>
                    <a:pt x="33" y="48"/>
                    <a:pt x="29" y="53"/>
                  </a:cubicBezTo>
                  <a:cubicBezTo>
                    <a:pt x="25" y="57"/>
                    <a:pt x="21" y="59"/>
                    <a:pt x="17" y="59"/>
                  </a:cubicBezTo>
                  <a:cubicBezTo>
                    <a:pt x="13" y="60"/>
                    <a:pt x="9" y="58"/>
                    <a:pt x="5" y="54"/>
                  </a:cubicBezTo>
                  <a:cubicBezTo>
                    <a:pt x="2" y="51"/>
                    <a:pt x="0" y="48"/>
                    <a:pt x="0" y="45"/>
                  </a:cubicBezTo>
                  <a:cubicBezTo>
                    <a:pt x="0" y="42"/>
                    <a:pt x="2" y="38"/>
                    <a:pt x="4"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sp>
          <p:nvSpPr>
            <p:cNvPr id="22" name="Freeform 87">
              <a:extLst>
                <a:ext uri="{FF2B5EF4-FFF2-40B4-BE49-F238E27FC236}">
                  <a16:creationId xmlns:a16="http://schemas.microsoft.com/office/drawing/2014/main" id="{DE46F0F4-2435-4BDC-A92C-EB13608804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20630858">
              <a:off x="10224385" y="3437261"/>
              <a:ext cx="824227" cy="881691"/>
            </a:xfrm>
            <a:custGeom>
              <a:avLst/>
              <a:gdLst>
                <a:gd name="T0" fmla="*/ 0 w 55"/>
                <a:gd name="T1" fmla="*/ 17 h 59"/>
                <a:gd name="T2" fmla="*/ 1 w 55"/>
                <a:gd name="T3" fmla="*/ 11 h 59"/>
                <a:gd name="T4" fmla="*/ 4 w 55"/>
                <a:gd name="T5" fmla="*/ 6 h 59"/>
                <a:gd name="T6" fmla="*/ 7 w 55"/>
                <a:gd name="T7" fmla="*/ 4 h 59"/>
                <a:gd name="T8" fmla="*/ 14 w 55"/>
                <a:gd name="T9" fmla="*/ 0 h 59"/>
                <a:gd name="T10" fmla="*/ 23 w 55"/>
                <a:gd name="T11" fmla="*/ 3 h 59"/>
                <a:gd name="T12" fmla="*/ 31 w 55"/>
                <a:gd name="T13" fmla="*/ 11 h 59"/>
                <a:gd name="T14" fmla="*/ 38 w 55"/>
                <a:gd name="T15" fmla="*/ 20 h 59"/>
                <a:gd name="T16" fmla="*/ 48 w 55"/>
                <a:gd name="T17" fmla="*/ 31 h 59"/>
                <a:gd name="T18" fmla="*/ 55 w 55"/>
                <a:gd name="T19" fmla="*/ 43 h 59"/>
                <a:gd name="T20" fmla="*/ 49 w 55"/>
                <a:gd name="T21" fmla="*/ 55 h 59"/>
                <a:gd name="T22" fmla="*/ 38 w 55"/>
                <a:gd name="T23" fmla="*/ 59 h 59"/>
                <a:gd name="T24" fmla="*/ 33 w 55"/>
                <a:gd name="T25" fmla="*/ 58 h 59"/>
                <a:gd name="T26" fmla="*/ 26 w 55"/>
                <a:gd name="T27" fmla="*/ 53 h 59"/>
                <a:gd name="T28" fmla="*/ 5 w 55"/>
                <a:gd name="T29" fmla="*/ 27 h 59"/>
                <a:gd name="T30" fmla="*/ 0 w 55"/>
                <a:gd name="T31" fmla="*/ 1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 h="59">
                  <a:moveTo>
                    <a:pt x="0" y="17"/>
                  </a:moveTo>
                  <a:cubicBezTo>
                    <a:pt x="0" y="14"/>
                    <a:pt x="0" y="12"/>
                    <a:pt x="1" y="11"/>
                  </a:cubicBezTo>
                  <a:cubicBezTo>
                    <a:pt x="2" y="9"/>
                    <a:pt x="3" y="8"/>
                    <a:pt x="4" y="6"/>
                  </a:cubicBezTo>
                  <a:cubicBezTo>
                    <a:pt x="6" y="5"/>
                    <a:pt x="7" y="4"/>
                    <a:pt x="7" y="4"/>
                  </a:cubicBezTo>
                  <a:cubicBezTo>
                    <a:pt x="9" y="2"/>
                    <a:pt x="12" y="1"/>
                    <a:pt x="14" y="0"/>
                  </a:cubicBezTo>
                  <a:cubicBezTo>
                    <a:pt x="17" y="0"/>
                    <a:pt x="20" y="1"/>
                    <a:pt x="23" y="3"/>
                  </a:cubicBezTo>
                  <a:cubicBezTo>
                    <a:pt x="26" y="4"/>
                    <a:pt x="29" y="7"/>
                    <a:pt x="31" y="11"/>
                  </a:cubicBezTo>
                  <a:cubicBezTo>
                    <a:pt x="38" y="20"/>
                    <a:pt x="38" y="20"/>
                    <a:pt x="38" y="20"/>
                  </a:cubicBezTo>
                  <a:cubicBezTo>
                    <a:pt x="48" y="31"/>
                    <a:pt x="48" y="31"/>
                    <a:pt x="48" y="31"/>
                  </a:cubicBezTo>
                  <a:cubicBezTo>
                    <a:pt x="52" y="36"/>
                    <a:pt x="54" y="40"/>
                    <a:pt x="55" y="43"/>
                  </a:cubicBezTo>
                  <a:cubicBezTo>
                    <a:pt x="55" y="47"/>
                    <a:pt x="54" y="52"/>
                    <a:pt x="49" y="55"/>
                  </a:cubicBezTo>
                  <a:cubicBezTo>
                    <a:pt x="45" y="58"/>
                    <a:pt x="41" y="59"/>
                    <a:pt x="38" y="59"/>
                  </a:cubicBezTo>
                  <a:cubicBezTo>
                    <a:pt x="37" y="59"/>
                    <a:pt x="35" y="59"/>
                    <a:pt x="33" y="58"/>
                  </a:cubicBezTo>
                  <a:cubicBezTo>
                    <a:pt x="31" y="57"/>
                    <a:pt x="29" y="55"/>
                    <a:pt x="26" y="53"/>
                  </a:cubicBezTo>
                  <a:cubicBezTo>
                    <a:pt x="23" y="50"/>
                    <a:pt x="5" y="27"/>
                    <a:pt x="5" y="27"/>
                  </a:cubicBezTo>
                  <a:cubicBezTo>
                    <a:pt x="2" y="23"/>
                    <a:pt x="0" y="19"/>
                    <a:pt x="0" y="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solidFill>
                  <a:schemeClr val="accent3"/>
                </a:solidFill>
              </a:endParaRPr>
            </a:p>
          </p:txBody>
        </p:sp>
      </p:grpSp>
      <p:sp>
        <p:nvSpPr>
          <p:cNvPr id="2" name="Title 1">
            <a:extLst>
              <a:ext uri="{FF2B5EF4-FFF2-40B4-BE49-F238E27FC236}">
                <a16:creationId xmlns:a16="http://schemas.microsoft.com/office/drawing/2014/main" id="{12C0A647-1FB1-4193-9D90-3D16E15DC3DD}"/>
              </a:ext>
            </a:extLst>
          </p:cNvPr>
          <p:cNvSpPr>
            <a:spLocks noGrp="1"/>
          </p:cNvSpPr>
          <p:nvPr>
            <p:ph type="title"/>
          </p:nvPr>
        </p:nvSpPr>
        <p:spPr>
          <a:xfrm>
            <a:off x="2640014" y="1334791"/>
            <a:ext cx="6911974" cy="2803071"/>
          </a:xfrm>
        </p:spPr>
        <p:txBody>
          <a:bodyPr vert="horz" wrap="square" lIns="0" tIns="0" rIns="0" bIns="0" rtlCol="0" anchor="ctr" anchorCtr="0">
            <a:normAutofit/>
          </a:bodyPr>
          <a:lstStyle/>
          <a:p>
            <a:pPr algn="ctr"/>
            <a:r>
              <a:rPr lang="en-US" sz="5600" spc="-100"/>
              <a:t>Decorator Design Pattern</a:t>
            </a:r>
          </a:p>
        </p:txBody>
      </p:sp>
      <p:sp>
        <p:nvSpPr>
          <p:cNvPr id="3" name="Content Placeholder 2">
            <a:extLst>
              <a:ext uri="{FF2B5EF4-FFF2-40B4-BE49-F238E27FC236}">
                <a16:creationId xmlns:a16="http://schemas.microsoft.com/office/drawing/2014/main" id="{9B00C030-A9CD-4959-B74E-FC1511DB8A75}"/>
              </a:ext>
            </a:extLst>
          </p:cNvPr>
          <p:cNvSpPr>
            <a:spLocks noGrp="1"/>
          </p:cNvSpPr>
          <p:nvPr>
            <p:ph idx="1"/>
          </p:nvPr>
        </p:nvSpPr>
        <p:spPr>
          <a:xfrm>
            <a:off x="2640014" y="4437899"/>
            <a:ext cx="6911974" cy="990143"/>
          </a:xfrm>
        </p:spPr>
        <p:txBody>
          <a:bodyPr vert="horz" lIns="0" tIns="0" rIns="0" bIns="0" rtlCol="0">
            <a:normAutofit/>
          </a:bodyPr>
          <a:lstStyle/>
          <a:p>
            <a:pPr marL="0" indent="0" algn="ctr">
              <a:buNone/>
            </a:pPr>
            <a:r>
              <a:rPr lang="en-US" sz="2800">
                <a:solidFill>
                  <a:schemeClr val="tx2">
                    <a:lumMod val="90000"/>
                  </a:schemeClr>
                </a:solidFill>
              </a:rPr>
              <a:t>Design Eye for the Inheritance Guy</a:t>
            </a:r>
          </a:p>
        </p:txBody>
      </p:sp>
      <p:sp useBgFill="1">
        <p:nvSpPr>
          <p:cNvPr id="24" name="Freeform: Shape 23">
            <a:extLst>
              <a:ext uri="{FF2B5EF4-FFF2-40B4-BE49-F238E27FC236}">
                <a16:creationId xmlns:a16="http://schemas.microsoft.com/office/drawing/2014/main" id="{085AB271-571D-4C19-9FCC-C760834A8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5693226" y="359229"/>
            <a:ext cx="805544" cy="12191999"/>
          </a:xfrm>
          <a:custGeom>
            <a:avLst/>
            <a:gdLst>
              <a:gd name="connsiteX0" fmla="*/ 0 w 1214924"/>
              <a:gd name="connsiteY0" fmla="*/ 12191999 h 12191999"/>
              <a:gd name="connsiteX1" fmla="*/ 32 w 1214924"/>
              <a:gd name="connsiteY1" fmla="*/ 12166053 h 12191999"/>
              <a:gd name="connsiteX2" fmla="*/ 59979 w 1214924"/>
              <a:gd name="connsiteY2" fmla="*/ 9224089 h 12191999"/>
              <a:gd name="connsiteX3" fmla="*/ 120877 w 1214924"/>
              <a:gd name="connsiteY3" fmla="*/ 8004225 h 12191999"/>
              <a:gd name="connsiteX4" fmla="*/ 59979 w 1214924"/>
              <a:gd name="connsiteY4" fmla="*/ 7211315 h 12191999"/>
              <a:gd name="connsiteX5" fmla="*/ 59979 w 1214924"/>
              <a:gd name="connsiteY5" fmla="*/ 6601383 h 12191999"/>
              <a:gd name="connsiteX6" fmla="*/ 59979 w 1214924"/>
              <a:gd name="connsiteY6" fmla="*/ 5015562 h 12191999"/>
              <a:gd name="connsiteX7" fmla="*/ 120877 w 1214924"/>
              <a:gd name="connsiteY7" fmla="*/ 3185768 h 12191999"/>
              <a:gd name="connsiteX8" fmla="*/ 74847 w 1214924"/>
              <a:gd name="connsiteY8" fmla="*/ 4714 h 12191999"/>
              <a:gd name="connsiteX9" fmla="*/ 74778 w 1214924"/>
              <a:gd name="connsiteY9" fmla="*/ 0 h 12191999"/>
              <a:gd name="connsiteX10" fmla="*/ 1214924 w 1214924"/>
              <a:gd name="connsiteY10" fmla="*/ 0 h 12191999"/>
              <a:gd name="connsiteX11" fmla="*/ 1214924 w 1214924"/>
              <a:gd name="connsiteY11" fmla="*/ 12191999 h 1219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924" h="12191999">
                <a:moveTo>
                  <a:pt x="0" y="12191999"/>
                </a:moveTo>
                <a:lnTo>
                  <a:pt x="32" y="12166053"/>
                </a:lnTo>
                <a:cubicBezTo>
                  <a:pt x="2886" y="11339787"/>
                  <a:pt x="14305" y="10367710"/>
                  <a:pt x="59979" y="9224089"/>
                </a:cubicBezTo>
                <a:cubicBezTo>
                  <a:pt x="120877" y="8004225"/>
                  <a:pt x="120877" y="8004225"/>
                  <a:pt x="120877" y="8004225"/>
                </a:cubicBezTo>
                <a:cubicBezTo>
                  <a:pt x="120877" y="7760253"/>
                  <a:pt x="59979" y="7516280"/>
                  <a:pt x="59979" y="7211315"/>
                </a:cubicBezTo>
                <a:cubicBezTo>
                  <a:pt x="59979" y="6906349"/>
                  <a:pt x="59979" y="6662377"/>
                  <a:pt x="59979" y="6601383"/>
                </a:cubicBezTo>
                <a:cubicBezTo>
                  <a:pt x="59979" y="5015562"/>
                  <a:pt x="59979" y="5015562"/>
                  <a:pt x="59979" y="5015562"/>
                </a:cubicBezTo>
                <a:cubicBezTo>
                  <a:pt x="120877" y="3185768"/>
                  <a:pt x="120877" y="3185768"/>
                  <a:pt x="120877" y="3185768"/>
                </a:cubicBezTo>
                <a:cubicBezTo>
                  <a:pt x="98040" y="1607571"/>
                  <a:pt x="83767" y="621197"/>
                  <a:pt x="74847" y="4714"/>
                </a:cubicBezTo>
                <a:lnTo>
                  <a:pt x="74778" y="0"/>
                </a:lnTo>
                <a:lnTo>
                  <a:pt x="1214924" y="0"/>
                </a:lnTo>
                <a:lnTo>
                  <a:pt x="1214924" y="12191999"/>
                </a:lnTo>
                <a:close/>
              </a:path>
            </a:pathLst>
          </a:custGeom>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29565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7EFF05-A8DA-4B3E-9C21-7A04283D4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D690F001-2D75-4EFE-805F-3E6954B75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6F7DA8-FD92-4ACF-9932-BF007E32A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4F76F7D6-E5D2-44FA-B1FA-A1A61DF18E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0554709" cy="6858000"/>
          </a:xfrm>
          <a:custGeom>
            <a:avLst/>
            <a:gdLst>
              <a:gd name="connsiteX0" fmla="*/ 678080 w 10554709"/>
              <a:gd name="connsiteY0" fmla="*/ 0 h 6858000"/>
              <a:gd name="connsiteX1" fmla="*/ 8939948 w 10554709"/>
              <a:gd name="connsiteY1" fmla="*/ 0 h 6858000"/>
              <a:gd name="connsiteX2" fmla="*/ 9088366 w 10554709"/>
              <a:gd name="connsiteY2" fmla="*/ 139640 h 6858000"/>
              <a:gd name="connsiteX3" fmla="*/ 10554709 w 10554709"/>
              <a:gd name="connsiteY3" fmla="*/ 3680162 h 6858000"/>
              <a:gd name="connsiteX4" fmla="*/ 9852869 w 10554709"/>
              <a:gd name="connsiteY4" fmla="*/ 6618597 h 6858000"/>
              <a:gd name="connsiteX5" fmla="*/ 9732509 w 10554709"/>
              <a:gd name="connsiteY5" fmla="*/ 6858000 h 6858000"/>
              <a:gd name="connsiteX6" fmla="*/ 0 w 10554709"/>
              <a:gd name="connsiteY6" fmla="*/ 6858000 h 6858000"/>
              <a:gd name="connsiteX7" fmla="*/ 0 w 10554709"/>
              <a:gd name="connsiteY7" fmla="*/ 893015 h 6858000"/>
              <a:gd name="connsiteX8" fmla="*/ 32877 w 10554709"/>
              <a:gd name="connsiteY8" fmla="*/ 837948 h 6858000"/>
              <a:gd name="connsiteX9" fmla="*/ 408715 w 10554709"/>
              <a:gd name="connsiteY9" fmla="*/ 3077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54709" h="6858000">
                <a:moveTo>
                  <a:pt x="678080" y="0"/>
                </a:moveTo>
                <a:lnTo>
                  <a:pt x="8939948" y="0"/>
                </a:lnTo>
                <a:lnTo>
                  <a:pt x="9088366" y="139640"/>
                </a:lnTo>
                <a:cubicBezTo>
                  <a:pt x="10103527" y="1150771"/>
                  <a:pt x="10554709" y="2302771"/>
                  <a:pt x="10554709" y="3680162"/>
                </a:cubicBezTo>
                <a:cubicBezTo>
                  <a:pt x="10554709" y="4782075"/>
                  <a:pt x="10354183" y="5717032"/>
                  <a:pt x="9852869" y="6618597"/>
                </a:cubicBezTo>
                <a:lnTo>
                  <a:pt x="9732509" y="6858000"/>
                </a:lnTo>
                <a:lnTo>
                  <a:pt x="0" y="6858000"/>
                </a:lnTo>
                <a:lnTo>
                  <a:pt x="0" y="893015"/>
                </a:lnTo>
                <a:lnTo>
                  <a:pt x="32877" y="837948"/>
                </a:lnTo>
                <a:cubicBezTo>
                  <a:pt x="149932" y="650048"/>
                  <a:pt x="274183" y="474695"/>
                  <a:pt x="408715" y="307706"/>
                </a:cubicBezTo>
                <a:close/>
              </a:path>
            </a:pathLst>
          </a:custGeom>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le 1">
            <a:extLst>
              <a:ext uri="{FF2B5EF4-FFF2-40B4-BE49-F238E27FC236}">
                <a16:creationId xmlns:a16="http://schemas.microsoft.com/office/drawing/2014/main" id="{81E6E3B7-6B86-46A3-A682-488E14F86B7E}"/>
              </a:ext>
            </a:extLst>
          </p:cNvPr>
          <p:cNvSpPr>
            <a:spLocks noGrp="1"/>
          </p:cNvSpPr>
          <p:nvPr>
            <p:ph type="title"/>
          </p:nvPr>
        </p:nvSpPr>
        <p:spPr>
          <a:xfrm>
            <a:off x="720000" y="720000"/>
            <a:ext cx="6911974" cy="2803071"/>
          </a:xfrm>
        </p:spPr>
        <p:txBody>
          <a:bodyPr vert="horz" wrap="square" lIns="0" tIns="0" rIns="0" bIns="0" rtlCol="0" anchor="b" anchorCtr="0">
            <a:normAutofit/>
          </a:bodyPr>
          <a:lstStyle/>
          <a:p>
            <a:pPr algn="ctr">
              <a:lnSpc>
                <a:spcPct val="90000"/>
              </a:lnSpc>
            </a:pPr>
            <a:r>
              <a:rPr lang="en-US" sz="3100" spc="-100" dirty="0"/>
              <a:t> The decorator Pattern attaches additional responsibilities to an object dynamically. </a:t>
            </a:r>
            <a:br>
              <a:rPr lang="en-US" sz="3100" spc="-100" dirty="0"/>
            </a:br>
            <a:r>
              <a:rPr lang="en-US" sz="3100" spc="-100" dirty="0"/>
              <a:t>Decorator pattern provides a flexible alternative to sub classing for extended functionality</a:t>
            </a:r>
          </a:p>
        </p:txBody>
      </p:sp>
      <p:sp>
        <p:nvSpPr>
          <p:cNvPr id="17" name="Freeform 10">
            <a:extLst>
              <a:ext uri="{FF2B5EF4-FFF2-40B4-BE49-F238E27FC236}">
                <a16:creationId xmlns:a16="http://schemas.microsoft.com/office/drawing/2014/main" id="{671E2FB4-7344-4400-973C-C4E1D46C1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4500000">
            <a:off x="9006897" y="392628"/>
            <a:ext cx="3095625" cy="2897543"/>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6600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5" name="Rectangle 80">
            <a:extLst>
              <a:ext uri="{FF2B5EF4-FFF2-40B4-BE49-F238E27FC236}">
                <a16:creationId xmlns:a16="http://schemas.microsoft.com/office/drawing/2014/main" id="{01D3B63D-97A2-43B6-B140-7FADB9C54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2">
            <a:extLst>
              <a:ext uri="{FF2B5EF4-FFF2-40B4-BE49-F238E27FC236}">
                <a16:creationId xmlns:a16="http://schemas.microsoft.com/office/drawing/2014/main" id="{899AB3E9-A7F5-451B-8FC3-9BBE53056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F2BDDAB-8D5C-43DE-ADBD-96A6AE553062}"/>
              </a:ext>
            </a:extLst>
          </p:cNvPr>
          <p:cNvSpPr>
            <a:spLocks noGrp="1"/>
          </p:cNvSpPr>
          <p:nvPr>
            <p:ph idx="1"/>
          </p:nvPr>
        </p:nvSpPr>
        <p:spPr>
          <a:xfrm>
            <a:off x="720000" y="2541600"/>
            <a:ext cx="4991962" cy="3216273"/>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nSpc>
                <a:spcPct val="110000"/>
              </a:lnSpc>
            </a:pPr>
            <a:r>
              <a:rPr lang="en-IN" sz="1100"/>
              <a:t>In simpler way we can explain the Decorator pattern in the following way. </a:t>
            </a:r>
          </a:p>
          <a:p>
            <a:pPr>
              <a:lnSpc>
                <a:spcPct val="110000"/>
              </a:lnSpc>
            </a:pPr>
            <a:r>
              <a:rPr lang="en-IN" sz="1100"/>
              <a:t>You have an Obj, and a method Speak() is sending some message to the “obj”. The “Obj” is expected to return the same message as output.</a:t>
            </a:r>
          </a:p>
          <a:p>
            <a:pPr>
              <a:lnSpc>
                <a:spcPct val="110000"/>
              </a:lnSpc>
            </a:pPr>
            <a:r>
              <a:rPr lang="en-IN" sz="1100"/>
              <a:t>Now if you want change the thing that returns or changing the behaviour of the “obj” at run time, you could use decorator pattern. </a:t>
            </a:r>
          </a:p>
          <a:p>
            <a:pPr>
              <a:lnSpc>
                <a:spcPct val="110000"/>
              </a:lnSpc>
            </a:pPr>
            <a:r>
              <a:rPr lang="en-IN" sz="1100"/>
              <a:t>And this can be done at run time not at compile time.</a:t>
            </a:r>
          </a:p>
          <a:p>
            <a:pPr>
              <a:lnSpc>
                <a:spcPct val="110000"/>
              </a:lnSpc>
            </a:pPr>
            <a:r>
              <a:rPr lang="en-IN" sz="1100"/>
              <a:t>Instead of Sending messages directly to the object, from the method Speak(), we are decorating it with a wrapper.</a:t>
            </a:r>
          </a:p>
          <a:p>
            <a:pPr>
              <a:lnSpc>
                <a:spcPct val="110000"/>
              </a:lnSpc>
            </a:pPr>
            <a:r>
              <a:rPr lang="en-IN" sz="1100"/>
              <a:t>Also you can wrapper again the wrapped object.</a:t>
            </a:r>
          </a:p>
          <a:p>
            <a:pPr>
              <a:lnSpc>
                <a:spcPct val="110000"/>
              </a:lnSpc>
            </a:pPr>
            <a:endParaRPr lang="en-GB" sz="1100"/>
          </a:p>
        </p:txBody>
      </p:sp>
      <p:grpSp>
        <p:nvGrpSpPr>
          <p:cNvPr id="25" name="Group 24">
            <a:extLst>
              <a:ext uri="{FF2B5EF4-FFF2-40B4-BE49-F238E27FC236}">
                <a16:creationId xmlns:a16="http://schemas.microsoft.com/office/drawing/2014/main" id="{3473B260-06F0-4F9D-929D-E8E308214A4F}"/>
              </a:ext>
            </a:extLst>
          </p:cNvPr>
          <p:cNvGrpSpPr/>
          <p:nvPr/>
        </p:nvGrpSpPr>
        <p:grpSpPr>
          <a:xfrm>
            <a:off x="6444525" y="2555877"/>
            <a:ext cx="5014800" cy="1737586"/>
            <a:chOff x="1840089" y="1388534"/>
            <a:chExt cx="7778043" cy="2695019"/>
          </a:xfrm>
        </p:grpSpPr>
        <p:grpSp>
          <p:nvGrpSpPr>
            <p:cNvPr id="8" name="Group 7">
              <a:extLst>
                <a:ext uri="{FF2B5EF4-FFF2-40B4-BE49-F238E27FC236}">
                  <a16:creationId xmlns:a16="http://schemas.microsoft.com/office/drawing/2014/main" id="{CFB9658A-7242-46F9-93F2-3BEB150F785B}"/>
                </a:ext>
              </a:extLst>
            </p:cNvPr>
            <p:cNvGrpSpPr/>
            <p:nvPr/>
          </p:nvGrpSpPr>
          <p:grpSpPr>
            <a:xfrm>
              <a:off x="1840089" y="1806223"/>
              <a:ext cx="3984978" cy="2212622"/>
              <a:chOff x="3612445" y="3048001"/>
              <a:chExt cx="3984978" cy="2212622"/>
            </a:xfrm>
          </p:grpSpPr>
          <p:sp>
            <p:nvSpPr>
              <p:cNvPr id="4" name="Oval 3">
                <a:extLst>
                  <a:ext uri="{FF2B5EF4-FFF2-40B4-BE49-F238E27FC236}">
                    <a16:creationId xmlns:a16="http://schemas.microsoft.com/office/drawing/2014/main" id="{6E10063E-345A-495E-BEB3-5A2967EF2676}"/>
                  </a:ext>
                </a:extLst>
              </p:cNvPr>
              <p:cNvSpPr/>
              <p:nvPr/>
            </p:nvSpPr>
            <p:spPr>
              <a:xfrm>
                <a:off x="5348504" y="3624019"/>
                <a:ext cx="925975" cy="729205"/>
              </a:xfrm>
              <a:prstGeom prst="ellipse">
                <a:avLst/>
              </a:prstGeom>
              <a:solidFill>
                <a:schemeClr val="bg2">
                  <a:lumMod val="50000"/>
                  <a:lumOff val="50000"/>
                </a:schemeClr>
              </a:solidFill>
              <a:ln>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900" err="1">
                    <a:solidFill>
                      <a:schemeClr val="bg1"/>
                    </a:solidFill>
                  </a:rPr>
                  <a:t>Obj</a:t>
                </a:r>
                <a:endParaRPr lang="en-GB" sz="900"/>
              </a:p>
            </p:txBody>
          </p:sp>
          <p:sp>
            <p:nvSpPr>
              <p:cNvPr id="6" name="Oval 5">
                <a:extLst>
                  <a:ext uri="{FF2B5EF4-FFF2-40B4-BE49-F238E27FC236}">
                    <a16:creationId xmlns:a16="http://schemas.microsoft.com/office/drawing/2014/main" id="{B2977314-8BAD-4F4F-B767-ADD6E11701EF}"/>
                  </a:ext>
                </a:extLst>
              </p:cNvPr>
              <p:cNvSpPr/>
              <p:nvPr/>
            </p:nvSpPr>
            <p:spPr>
              <a:xfrm>
                <a:off x="4389091" y="3429000"/>
                <a:ext cx="2844800" cy="1411111"/>
              </a:xfrm>
              <a:prstGeom prst="ellipse">
                <a:avLst/>
              </a:prstGeom>
              <a:noFill/>
              <a:ln>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4C5D3BD9-DBAB-41C7-8F2C-B8307A8A605F}"/>
                  </a:ext>
                </a:extLst>
              </p:cNvPr>
              <p:cNvSpPr/>
              <p:nvPr/>
            </p:nvSpPr>
            <p:spPr>
              <a:xfrm>
                <a:off x="3612445" y="3048001"/>
                <a:ext cx="3984978" cy="2212622"/>
              </a:xfrm>
              <a:prstGeom prst="ellipse">
                <a:avLst/>
              </a:prstGeom>
              <a:noFill/>
              <a:ln>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B35FEE91-1210-4681-AF6B-8D1E6DBD30CF}"/>
                </a:ext>
              </a:extLst>
            </p:cNvPr>
            <p:cNvSpPr txBox="1"/>
            <p:nvPr/>
          </p:nvSpPr>
          <p:spPr>
            <a:xfrm>
              <a:off x="7189949" y="3714221"/>
              <a:ext cx="2428183" cy="369332"/>
            </a:xfrm>
            <a:prstGeom prst="rect">
              <a:avLst/>
            </a:prstGeom>
            <a:noFill/>
            <a:ln>
              <a:solidFill>
                <a:schemeClr val="tx1">
                  <a:lumMod val="85000"/>
                </a:schemeClr>
              </a:solidFill>
            </a:ln>
          </p:spPr>
          <p:txBody>
            <a:bodyPr wrap="square" rtlCol="0">
              <a:normAutofit/>
            </a:bodyPr>
            <a:lstStyle/>
            <a:p>
              <a:pPr>
                <a:lnSpc>
                  <a:spcPct val="90000"/>
                </a:lnSpc>
                <a:spcAft>
                  <a:spcPts val="600"/>
                </a:spcAft>
              </a:pPr>
              <a:r>
                <a:rPr lang="en-IN" sz="900"/>
                <a:t>“Hello ! World”</a:t>
              </a:r>
              <a:endParaRPr lang="en-GB" sz="900"/>
            </a:p>
          </p:txBody>
        </p:sp>
        <p:sp>
          <p:nvSpPr>
            <p:cNvPr id="10" name="TextBox 9">
              <a:extLst>
                <a:ext uri="{FF2B5EF4-FFF2-40B4-BE49-F238E27FC236}">
                  <a16:creationId xmlns:a16="http://schemas.microsoft.com/office/drawing/2014/main" id="{E754C000-5FD4-4CEA-8D31-3E4ACBC3FCDB}"/>
                </a:ext>
              </a:extLst>
            </p:cNvPr>
            <p:cNvSpPr txBox="1"/>
            <p:nvPr/>
          </p:nvSpPr>
          <p:spPr>
            <a:xfrm>
              <a:off x="6601713" y="1388534"/>
              <a:ext cx="2090874" cy="369332"/>
            </a:xfrm>
            <a:prstGeom prst="rect">
              <a:avLst/>
            </a:prstGeom>
            <a:noFill/>
            <a:ln>
              <a:solidFill>
                <a:schemeClr val="tx1">
                  <a:lumMod val="85000"/>
                </a:schemeClr>
              </a:solidFill>
            </a:ln>
          </p:spPr>
          <p:txBody>
            <a:bodyPr wrap="square" rtlCol="0">
              <a:normAutofit/>
            </a:bodyPr>
            <a:lstStyle/>
            <a:p>
              <a:pPr>
                <a:lnSpc>
                  <a:spcPct val="90000"/>
                </a:lnSpc>
                <a:spcAft>
                  <a:spcPts val="600"/>
                </a:spcAft>
              </a:pPr>
              <a:r>
                <a:rPr lang="en-IN" sz="900"/>
                <a:t>Speak()</a:t>
              </a:r>
              <a:endParaRPr lang="en-GB" sz="900"/>
            </a:p>
          </p:txBody>
        </p:sp>
        <p:cxnSp>
          <p:nvCxnSpPr>
            <p:cNvPr id="14" name="Straight Arrow Connector 13">
              <a:extLst>
                <a:ext uri="{FF2B5EF4-FFF2-40B4-BE49-F238E27FC236}">
                  <a16:creationId xmlns:a16="http://schemas.microsoft.com/office/drawing/2014/main" id="{A8F868AA-4E91-4568-9B0C-B6AC4566C53C}"/>
                </a:ext>
              </a:extLst>
            </p:cNvPr>
            <p:cNvCxnSpPr/>
            <p:nvPr/>
          </p:nvCxnSpPr>
          <p:spPr>
            <a:xfrm flipH="1">
              <a:off x="5373511" y="1580444"/>
              <a:ext cx="1095022" cy="508000"/>
            </a:xfrm>
            <a:prstGeom prst="straightConnector1">
              <a:avLst/>
            </a:prstGeom>
            <a:ln>
              <a:solidFill>
                <a:schemeClr val="tx1">
                  <a:lumMod val="85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6DEF2D3-573D-4747-BFE3-06B94B3E5F6A}"/>
                </a:ext>
              </a:extLst>
            </p:cNvPr>
            <p:cNvCxnSpPr>
              <a:cxnSpLocks/>
              <a:stCxn id="7" idx="7"/>
            </p:cNvCxnSpPr>
            <p:nvPr/>
          </p:nvCxnSpPr>
          <p:spPr>
            <a:xfrm flipH="1">
              <a:off x="4939328" y="2130254"/>
              <a:ext cx="302153" cy="251988"/>
            </a:xfrm>
            <a:prstGeom prst="straightConnector1">
              <a:avLst/>
            </a:prstGeom>
            <a:ln>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A12AB67-3EC0-4C77-AB2F-B196D17F941E}"/>
                </a:ext>
              </a:extLst>
            </p:cNvPr>
            <p:cNvCxnSpPr>
              <a:endCxn id="4" idx="7"/>
            </p:cNvCxnSpPr>
            <p:nvPr/>
          </p:nvCxnSpPr>
          <p:spPr>
            <a:xfrm flipH="1">
              <a:off x="4366517" y="2269067"/>
              <a:ext cx="352239" cy="219964"/>
            </a:xfrm>
            <a:prstGeom prst="straightConnector1">
              <a:avLst/>
            </a:prstGeom>
            <a:ln>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5B7D036-8EBF-44F7-A7A5-DAC9A444E6A9}"/>
                </a:ext>
              </a:extLst>
            </p:cNvPr>
            <p:cNvCxnSpPr>
              <a:endCxn id="6" idx="5"/>
            </p:cNvCxnSpPr>
            <p:nvPr/>
          </p:nvCxnSpPr>
          <p:spPr>
            <a:xfrm>
              <a:off x="4366517" y="3111446"/>
              <a:ext cx="678407" cy="280235"/>
            </a:xfrm>
            <a:prstGeom prst="straightConnector1">
              <a:avLst/>
            </a:prstGeom>
            <a:ln>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B9B14F7-7077-4D45-959C-CFD0A2AFBBB9}"/>
                </a:ext>
              </a:extLst>
            </p:cNvPr>
            <p:cNvCxnSpPr/>
            <p:nvPr/>
          </p:nvCxnSpPr>
          <p:spPr>
            <a:xfrm>
              <a:off x="5241480" y="3331410"/>
              <a:ext cx="380732" cy="179434"/>
            </a:xfrm>
            <a:prstGeom prst="straightConnector1">
              <a:avLst/>
            </a:prstGeom>
            <a:ln>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7E04B76-2AE3-4A27-8993-34A54727577E}"/>
                </a:ext>
              </a:extLst>
            </p:cNvPr>
            <p:cNvCxnSpPr/>
            <p:nvPr/>
          </p:nvCxnSpPr>
          <p:spPr>
            <a:xfrm>
              <a:off x="5461535" y="3598333"/>
              <a:ext cx="1537576" cy="300554"/>
            </a:xfrm>
            <a:prstGeom prst="straightConnector1">
              <a:avLst/>
            </a:prstGeom>
            <a:ln>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723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FB0E95-9CAE-4968-A118-2B9F7C8BB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0BBC371-361C-45F7-9235-C3252E336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4172FA92-6FD3-495F-95A0-4FD85861D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 y="1734458"/>
            <a:ext cx="12191501" cy="5123544"/>
          </a:xfrm>
          <a:custGeom>
            <a:avLst/>
            <a:gdLst>
              <a:gd name="connsiteX0" fmla="*/ 9255953 w 12191501"/>
              <a:gd name="connsiteY0" fmla="*/ 0 h 4430825"/>
              <a:gd name="connsiteX1" fmla="*/ 10762189 w 12191501"/>
              <a:gd name="connsiteY1" fmla="*/ 67992 h 4430825"/>
              <a:gd name="connsiteX2" fmla="*/ 11364025 w 12191501"/>
              <a:gd name="connsiteY2" fmla="*/ 57486 h 4430825"/>
              <a:gd name="connsiteX3" fmla="*/ 12096632 w 12191501"/>
              <a:gd name="connsiteY3" fmla="*/ 44699 h 4430825"/>
              <a:gd name="connsiteX4" fmla="*/ 12191501 w 12191501"/>
              <a:gd name="connsiteY4" fmla="*/ 43042 h 4430825"/>
              <a:gd name="connsiteX5" fmla="*/ 12191501 w 12191501"/>
              <a:gd name="connsiteY5" fmla="*/ 4430825 h 4430825"/>
              <a:gd name="connsiteX6" fmla="*/ 0 w 12191501"/>
              <a:gd name="connsiteY6" fmla="*/ 4430825 h 4430825"/>
              <a:gd name="connsiteX7" fmla="*/ 10182 w 12191501"/>
              <a:gd name="connsiteY7" fmla="*/ 95053 h 4430825"/>
              <a:gd name="connsiteX8" fmla="*/ 70972 w 12191501"/>
              <a:gd name="connsiteY8" fmla="*/ 97164 h 4430825"/>
              <a:gd name="connsiteX9" fmla="*/ 1281624 w 12191501"/>
              <a:gd name="connsiteY9" fmla="*/ 139193 h 4430825"/>
              <a:gd name="connsiteX10" fmla="*/ 2485297 w 12191501"/>
              <a:gd name="connsiteY10" fmla="*/ 118183 h 4430825"/>
              <a:gd name="connsiteX11" fmla="*/ 3237591 w 12191501"/>
              <a:gd name="connsiteY11" fmla="*/ 105051 h 4430825"/>
              <a:gd name="connsiteX12" fmla="*/ 3989887 w 12191501"/>
              <a:gd name="connsiteY12" fmla="*/ 91920 h 4430825"/>
              <a:gd name="connsiteX13" fmla="*/ 9255953 w 12191501"/>
              <a:gd name="connsiteY13" fmla="*/ 0 h 443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501" h="4430825">
                <a:moveTo>
                  <a:pt x="9255953" y="0"/>
                </a:moveTo>
                <a:cubicBezTo>
                  <a:pt x="10762189" y="67992"/>
                  <a:pt x="10762189" y="67992"/>
                  <a:pt x="10762189" y="67992"/>
                </a:cubicBezTo>
                <a:cubicBezTo>
                  <a:pt x="11364025" y="57486"/>
                  <a:pt x="11364025" y="57486"/>
                  <a:pt x="11364025" y="57486"/>
                </a:cubicBezTo>
                <a:cubicBezTo>
                  <a:pt x="11589714" y="53547"/>
                  <a:pt x="11836561" y="49238"/>
                  <a:pt x="12096632" y="44699"/>
                </a:cubicBezTo>
                <a:lnTo>
                  <a:pt x="12191501" y="43042"/>
                </a:lnTo>
                <a:lnTo>
                  <a:pt x="12191501" y="4430825"/>
                </a:lnTo>
                <a:lnTo>
                  <a:pt x="0" y="4430825"/>
                </a:lnTo>
                <a:lnTo>
                  <a:pt x="10182" y="95053"/>
                </a:lnTo>
                <a:lnTo>
                  <a:pt x="70972" y="97164"/>
                </a:lnTo>
                <a:cubicBezTo>
                  <a:pt x="1281624" y="139193"/>
                  <a:pt x="1281624" y="139193"/>
                  <a:pt x="1281624" y="139193"/>
                </a:cubicBezTo>
                <a:cubicBezTo>
                  <a:pt x="2485297" y="118183"/>
                  <a:pt x="2485297" y="118183"/>
                  <a:pt x="2485297" y="118183"/>
                </a:cubicBezTo>
                <a:cubicBezTo>
                  <a:pt x="2786215" y="112930"/>
                  <a:pt x="2936672" y="110304"/>
                  <a:pt x="3237591" y="105051"/>
                </a:cubicBezTo>
                <a:cubicBezTo>
                  <a:pt x="3538508" y="99800"/>
                  <a:pt x="3839426" y="94546"/>
                  <a:pt x="3989887" y="91920"/>
                </a:cubicBezTo>
                <a:cubicBezTo>
                  <a:pt x="9255953" y="0"/>
                  <a:pt x="9255953" y="0"/>
                  <a:pt x="9255953"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graphicFrame>
        <p:nvGraphicFramePr>
          <p:cNvPr id="5" name="Content Placeholder 2">
            <a:extLst>
              <a:ext uri="{FF2B5EF4-FFF2-40B4-BE49-F238E27FC236}">
                <a16:creationId xmlns:a16="http://schemas.microsoft.com/office/drawing/2014/main" id="{F1B5F774-DDD5-4C99-97DB-B1F61BD66EAB}"/>
              </a:ext>
            </a:extLst>
          </p:cNvPr>
          <p:cNvGraphicFramePr>
            <a:graphicFrameLocks noGrp="1"/>
          </p:cNvGraphicFramePr>
          <p:nvPr>
            <p:ph idx="1"/>
            <p:extLst>
              <p:ext uri="{D42A27DB-BD31-4B8C-83A1-F6EECF244321}">
                <p14:modId xmlns:p14="http://schemas.microsoft.com/office/powerpoint/2010/main" val="3897462481"/>
              </p:ext>
            </p:extLst>
          </p:nvPr>
        </p:nvGraphicFramePr>
        <p:xfrm>
          <a:off x="720725" y="2541588"/>
          <a:ext cx="10728325" cy="3587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9367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C40B9-ED11-459A-92D4-ECE8B5606E08}"/>
              </a:ext>
            </a:extLst>
          </p:cNvPr>
          <p:cNvSpPr>
            <a:spLocks noGrp="1"/>
          </p:cNvSpPr>
          <p:nvPr>
            <p:ph idx="1"/>
          </p:nvPr>
        </p:nvSpPr>
        <p:spPr>
          <a:xfrm>
            <a:off x="720000" y="733778"/>
            <a:ext cx="10728325" cy="5035197"/>
          </a:xfrm>
        </p:spPr>
        <p:txBody>
          <a:bodyPr/>
          <a:lstStyle/>
          <a:p>
            <a:pPr marL="0" indent="0">
              <a:buNone/>
            </a:pPr>
            <a:r>
              <a:rPr lang="en-GB" b="0" i="0" dirty="0">
                <a:solidFill>
                  <a:schemeClr val="tx1"/>
                </a:solidFill>
                <a:effectLst/>
                <a:latin typeface="Roboto"/>
              </a:rPr>
              <a:t>Suppose we want to implement different kinds of cars – we can create interface Car to define the assemble method and then we can have a Basic car, further more we can extend it to Sports car and Luxury Car</a:t>
            </a:r>
            <a:r>
              <a:rPr lang="en-GB" b="0" i="0" dirty="0">
                <a:solidFill>
                  <a:srgbClr val="1D1F20"/>
                </a:solidFill>
                <a:effectLst/>
                <a:latin typeface="Roboto"/>
              </a:rPr>
              <a:t>.</a:t>
            </a:r>
          </a:p>
          <a:p>
            <a:pPr marL="0" indent="0">
              <a:buNone/>
            </a:pPr>
            <a:endParaRPr lang="en-GB" dirty="0"/>
          </a:p>
        </p:txBody>
      </p:sp>
      <p:pic>
        <p:nvPicPr>
          <p:cNvPr id="1026" name="Picture 2">
            <a:extLst>
              <a:ext uri="{FF2B5EF4-FFF2-40B4-BE49-F238E27FC236}">
                <a16:creationId xmlns:a16="http://schemas.microsoft.com/office/drawing/2014/main" id="{3B49B5D8-58CD-4D3D-ABB3-274FEB022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4108" y="2482850"/>
            <a:ext cx="4648200" cy="328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249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8F335-5F2B-46F5-8998-D7BE4C37B1A6}"/>
              </a:ext>
            </a:extLst>
          </p:cNvPr>
          <p:cNvSpPr>
            <a:spLocks noGrp="1"/>
          </p:cNvSpPr>
          <p:nvPr>
            <p:ph type="title"/>
          </p:nvPr>
        </p:nvSpPr>
        <p:spPr/>
        <p:txBody>
          <a:bodyPr>
            <a:normAutofit fontScale="90000"/>
          </a:bodyPr>
          <a:lstStyle/>
          <a:p>
            <a:br>
              <a:rPr lang="en-GB" dirty="0"/>
            </a:br>
            <a:r>
              <a:rPr lang="en-GB" dirty="0"/>
              <a:t>But if we want to get a car at runtime that has both the features of sports car and luxury car, then the implementation gets complex and if furthermore we want to specify which features should be added first, it gets even more complex. </a:t>
            </a:r>
            <a:br>
              <a:rPr lang="en-GB" dirty="0"/>
            </a:br>
            <a:r>
              <a:rPr lang="en-GB" dirty="0"/>
              <a:t>Now imagine if we have ten different kind of cars, the implementation logic using inheritance and composition will be impossible to manage. To solve this kind of programming situation, we apply decorator pattern in java.</a:t>
            </a:r>
          </a:p>
        </p:txBody>
      </p:sp>
    </p:spTree>
    <p:extLst>
      <p:ext uri="{BB962C8B-B14F-4D97-AF65-F5344CB8AC3E}">
        <p14:creationId xmlns:p14="http://schemas.microsoft.com/office/powerpoint/2010/main" val="3219620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7BBDA48-D9E7-4718-8D9D-AD498DDDC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8" y="990600"/>
            <a:ext cx="7019925"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334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F1C52-F8D7-4B5D-888E-DE744756E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766ECA5-294C-45E2-808B-EFDC9514A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B9A618-ACA7-43FF-9D77-F90B9F2CDE0D}"/>
              </a:ext>
            </a:extLst>
          </p:cNvPr>
          <p:cNvSpPr>
            <a:spLocks noGrp="1"/>
          </p:cNvSpPr>
          <p:nvPr>
            <p:ph type="title"/>
          </p:nvPr>
        </p:nvSpPr>
        <p:spPr>
          <a:xfrm>
            <a:off x="720000" y="619200"/>
            <a:ext cx="3095626" cy="5154274"/>
          </a:xfrm>
        </p:spPr>
        <p:txBody>
          <a:bodyPr>
            <a:normAutofit/>
          </a:bodyPr>
          <a:lstStyle/>
          <a:p>
            <a:r>
              <a:rPr lang="en-IN" sz="3000" dirty="0"/>
              <a:t>Implementation in JDK</a:t>
            </a:r>
            <a:endParaRPr lang="en-GB" sz="3000" dirty="0"/>
          </a:p>
        </p:txBody>
      </p:sp>
      <p:sp>
        <p:nvSpPr>
          <p:cNvPr id="25" name="Content Placeholder 2">
            <a:extLst>
              <a:ext uri="{FF2B5EF4-FFF2-40B4-BE49-F238E27FC236}">
                <a16:creationId xmlns:a16="http://schemas.microsoft.com/office/drawing/2014/main" id="{6DD07C41-1F04-43CC-8EA8-BABBFA7F5FAC}"/>
              </a:ext>
            </a:extLst>
          </p:cNvPr>
          <p:cNvSpPr>
            <a:spLocks noGrp="1"/>
          </p:cNvSpPr>
          <p:nvPr>
            <p:ph idx="1"/>
          </p:nvPr>
        </p:nvSpPr>
        <p:spPr>
          <a:xfrm>
            <a:off x="4548188" y="576000"/>
            <a:ext cx="6900137" cy="5197474"/>
          </a:xfrm>
        </p:spPr>
        <p:txBody>
          <a:bodyPr>
            <a:normAutofit/>
          </a:bodyPr>
          <a:lstStyle/>
          <a:p>
            <a:pPr>
              <a:lnSpc>
                <a:spcPct val="110000"/>
              </a:lnSpc>
            </a:pPr>
            <a:endParaRPr lang="en-GB" sz="2300" dirty="0"/>
          </a:p>
          <a:p>
            <a:pPr>
              <a:lnSpc>
                <a:spcPct val="110000"/>
              </a:lnSpc>
            </a:pPr>
            <a:r>
              <a:rPr lang="en-GB" sz="2300" dirty="0"/>
              <a:t>All subclasses of </a:t>
            </a:r>
            <a:r>
              <a:rPr lang="en-GB" sz="2300" dirty="0" err="1"/>
              <a:t>java.io.InputStream</a:t>
            </a:r>
            <a:r>
              <a:rPr lang="en-GB" sz="2300" dirty="0"/>
              <a:t>, </a:t>
            </a:r>
            <a:r>
              <a:rPr lang="en-GB" sz="2300" dirty="0" err="1"/>
              <a:t>OutputStream</a:t>
            </a:r>
            <a:r>
              <a:rPr lang="en-GB" sz="2300" dirty="0"/>
              <a:t>, Reader and Writer have constructors that accept objects of their own type.</a:t>
            </a:r>
          </a:p>
          <a:p>
            <a:pPr>
              <a:lnSpc>
                <a:spcPct val="110000"/>
              </a:lnSpc>
            </a:pPr>
            <a:endParaRPr lang="en-GB" sz="2300" dirty="0"/>
          </a:p>
          <a:p>
            <a:pPr>
              <a:lnSpc>
                <a:spcPct val="110000"/>
              </a:lnSpc>
            </a:pPr>
            <a:r>
              <a:rPr lang="en-GB" sz="2300" dirty="0" err="1"/>
              <a:t>java.util.Collections</a:t>
            </a:r>
            <a:r>
              <a:rPr lang="en-GB" sz="2300" dirty="0"/>
              <a:t>, methods </a:t>
            </a:r>
            <a:r>
              <a:rPr lang="en-GB" sz="2300" dirty="0" err="1"/>
              <a:t>checkedXXX</a:t>
            </a:r>
            <a:r>
              <a:rPr lang="en-GB" sz="2300" dirty="0"/>
              <a:t>(), </a:t>
            </a:r>
            <a:r>
              <a:rPr lang="en-GB" sz="2300" dirty="0" err="1"/>
              <a:t>synchronizedXXX</a:t>
            </a:r>
            <a:r>
              <a:rPr lang="en-GB" sz="2300" dirty="0"/>
              <a:t>() and </a:t>
            </a:r>
            <a:r>
              <a:rPr lang="en-GB" sz="2300" dirty="0" err="1"/>
              <a:t>unmodifiableXXX</a:t>
            </a:r>
            <a:r>
              <a:rPr lang="en-GB" sz="2300" dirty="0"/>
              <a:t>().</a:t>
            </a:r>
          </a:p>
          <a:p>
            <a:pPr>
              <a:lnSpc>
                <a:spcPct val="110000"/>
              </a:lnSpc>
            </a:pPr>
            <a:endParaRPr lang="en-GB" sz="2300" dirty="0"/>
          </a:p>
          <a:p>
            <a:pPr>
              <a:lnSpc>
                <a:spcPct val="110000"/>
              </a:lnSpc>
            </a:pPr>
            <a:r>
              <a:rPr lang="en-GB" sz="2300" dirty="0" err="1"/>
              <a:t>javax.servlet.http.HttpServletRequestWrapper</a:t>
            </a:r>
            <a:r>
              <a:rPr lang="en-GB" sz="2300" dirty="0"/>
              <a:t> and </a:t>
            </a:r>
            <a:r>
              <a:rPr lang="en-GB" sz="2300" dirty="0" err="1"/>
              <a:t>HttpServletResponseWrapper</a:t>
            </a:r>
            <a:endParaRPr lang="en-GB" sz="2300" dirty="0"/>
          </a:p>
          <a:p>
            <a:pPr>
              <a:lnSpc>
                <a:spcPct val="110000"/>
              </a:lnSpc>
            </a:pPr>
            <a:endParaRPr lang="en-GB" sz="2300" dirty="0"/>
          </a:p>
          <a:p>
            <a:pPr>
              <a:lnSpc>
                <a:spcPct val="110000"/>
              </a:lnSpc>
            </a:pPr>
            <a:endParaRPr lang="en-GB" sz="2300" dirty="0"/>
          </a:p>
        </p:txBody>
      </p:sp>
    </p:spTree>
    <p:extLst>
      <p:ext uri="{BB962C8B-B14F-4D97-AF65-F5344CB8AC3E}">
        <p14:creationId xmlns:p14="http://schemas.microsoft.com/office/powerpoint/2010/main" val="2034258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7A77-0241-457D-B808-97A7D5A9AF1D}"/>
              </a:ext>
            </a:extLst>
          </p:cNvPr>
          <p:cNvSpPr>
            <a:spLocks noGrp="1"/>
          </p:cNvSpPr>
          <p:nvPr>
            <p:ph type="title"/>
          </p:nvPr>
        </p:nvSpPr>
        <p:spPr/>
        <p:txBody>
          <a:bodyPr/>
          <a:lstStyle/>
          <a:p>
            <a:r>
              <a:rPr lang="en-IN" dirty="0"/>
              <a:t>Important Points</a:t>
            </a:r>
            <a:endParaRPr lang="en-GB" dirty="0"/>
          </a:p>
        </p:txBody>
      </p:sp>
      <p:sp>
        <p:nvSpPr>
          <p:cNvPr id="3" name="Content Placeholder 2">
            <a:extLst>
              <a:ext uri="{FF2B5EF4-FFF2-40B4-BE49-F238E27FC236}">
                <a16:creationId xmlns:a16="http://schemas.microsoft.com/office/drawing/2014/main" id="{8C8C2C9F-EA55-4DDE-BA71-70D76B6BD4A2}"/>
              </a:ext>
            </a:extLst>
          </p:cNvPr>
          <p:cNvSpPr>
            <a:spLocks noGrp="1"/>
          </p:cNvSpPr>
          <p:nvPr>
            <p:ph idx="1"/>
          </p:nvPr>
        </p:nvSpPr>
        <p:spPr/>
        <p:txBody>
          <a:bodyPr/>
          <a:lstStyle/>
          <a:p>
            <a:endParaRPr lang="en-GB" dirty="0"/>
          </a:p>
          <a:p>
            <a:r>
              <a:rPr lang="en-GB" dirty="0"/>
              <a:t>Decorator design pattern is helpful in providing runtime modification abilities and hence more flexible. Its easy to maintain and extend when the number of choices are more.</a:t>
            </a:r>
          </a:p>
          <a:p>
            <a:r>
              <a:rPr lang="en-GB" dirty="0"/>
              <a:t>The disadvantage of decorator design pattern is that it uses a lot of similar kind of objects (decorators).</a:t>
            </a:r>
          </a:p>
        </p:txBody>
      </p:sp>
    </p:spTree>
    <p:extLst>
      <p:ext uri="{BB962C8B-B14F-4D97-AF65-F5344CB8AC3E}">
        <p14:creationId xmlns:p14="http://schemas.microsoft.com/office/powerpoint/2010/main" val="1161703524"/>
      </p:ext>
    </p:extLst>
  </p:cSld>
  <p:clrMapOvr>
    <a:masterClrMapping/>
  </p:clrMapOvr>
</p:sld>
</file>

<file path=ppt/theme/theme1.xml><?xml version="1.0" encoding="utf-8"?>
<a:theme xmlns:a="http://schemas.openxmlformats.org/drawingml/2006/main" name="BlobVTI">
  <a:themeElements>
    <a:clrScheme name="AnalogousFromDarkSeedLeftStep">
      <a:dk1>
        <a:srgbClr val="000000"/>
      </a:dk1>
      <a:lt1>
        <a:srgbClr val="FFFFFF"/>
      </a:lt1>
      <a:dk2>
        <a:srgbClr val="412434"/>
      </a:dk2>
      <a:lt2>
        <a:srgbClr val="E2E8E7"/>
      </a:lt2>
      <a:accent1>
        <a:srgbClr val="D43B4E"/>
      </a:accent1>
      <a:accent2>
        <a:srgbClr val="C32A7C"/>
      </a:accent2>
      <a:accent3>
        <a:srgbClr val="D43BCE"/>
      </a:accent3>
      <a:accent4>
        <a:srgbClr val="892AC3"/>
      </a:accent4>
      <a:accent5>
        <a:srgbClr val="5F40D5"/>
      </a:accent5>
      <a:accent6>
        <a:srgbClr val="3452C5"/>
      </a:accent6>
      <a:hlink>
        <a:srgbClr val="8A62CA"/>
      </a:hlink>
      <a:folHlink>
        <a:srgbClr val="7F7F7F"/>
      </a:folHlink>
    </a:clrScheme>
    <a:fontScheme name="Blob">
      <a:majorFont>
        <a:latin typeface="Sagona Book"/>
        <a:ea typeface=""/>
        <a:cs typeface=""/>
      </a:majorFont>
      <a:minorFont>
        <a:latin typeface="Avenir Next LT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bVTI" id="{06D3AACF-B619-4265-899F-5E2FB3A445D5}" vid="{F5918863-BA1A-4735-81A8-3E7BFBDA8478}"/>
    </a:ext>
  </a:extLst>
</a:theme>
</file>

<file path=docProps/app.xml><?xml version="1.0" encoding="utf-8"?>
<Properties xmlns="http://schemas.openxmlformats.org/officeDocument/2006/extended-properties" xmlns:vt="http://schemas.openxmlformats.org/officeDocument/2006/docPropsVTypes">
  <TotalTime>5</TotalTime>
  <Words>492</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 Next LT Pro</vt:lpstr>
      <vt:lpstr>Roboto</vt:lpstr>
      <vt:lpstr>Sagona Book</vt:lpstr>
      <vt:lpstr>The Hand Extrablack</vt:lpstr>
      <vt:lpstr>BlobVTI</vt:lpstr>
      <vt:lpstr>Decorator Design Pattern</vt:lpstr>
      <vt:lpstr> The decorator Pattern attaches additional responsibilities to an object dynamically.  Decorator pattern provides a flexible alternative to sub classing for extended functionality</vt:lpstr>
      <vt:lpstr>PowerPoint Presentation</vt:lpstr>
      <vt:lpstr>PowerPoint Presentation</vt:lpstr>
      <vt:lpstr>PowerPoint Presentation</vt:lpstr>
      <vt:lpstr> But if we want to get a car at runtime that has both the features of sports car and luxury car, then the implementation gets complex and if furthermore we want to specify which features should be added first, it gets even more complex.  Now imagine if we have ten different kind of cars, the implementation logic using inheritance and composition will be impossible to manage. To solve this kind of programming situation, we apply decorator pattern in java.</vt:lpstr>
      <vt:lpstr>PowerPoint Presentation</vt:lpstr>
      <vt:lpstr>Implementation in JDK</vt:lpstr>
      <vt:lpstr>Important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Decorator Design Pattern</dc:title>
  <dc:creator>sandhya achanta</dc:creator>
  <cp:lastModifiedBy>sandhya achanta</cp:lastModifiedBy>
  <cp:revision>2</cp:revision>
  <dcterms:created xsi:type="dcterms:W3CDTF">2020-08-07T19:24:26Z</dcterms:created>
  <dcterms:modified xsi:type="dcterms:W3CDTF">2020-08-07T19:29:59Z</dcterms:modified>
</cp:coreProperties>
</file>